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62" d="100"/>
          <a:sy n="62" d="100"/>
        </p:scale>
        <p:origin x="2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g-start.png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bg-scrim">
            <a:extLst>
              <a:ext uri="{FF2B5EF4-FFF2-40B4-BE49-F238E27FC236}">
                <a16:creationId xmlns:a16="http://schemas.microsoft.com/office/drawing/2014/main" id="{732316DD-14E7-4FBD-B795-26861EF1F7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0F10">
              <a:alpha val="46000"/>
            </a:srgbClr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0D10BD-C9F8-4492-8C0B-3D4D8AA4F094}"/>
              </a:ext>
            </a:extLst>
          </p:cNvPr>
          <p:cNvSpPr>
            <a:spLocks noGrp="1"/>
          </p:cNvSpPr>
          <p:nvPr/>
        </p:nvSpPr>
        <p:spPr>
          <a:xfrm>
            <a:off x="1104900" y="1028700"/>
            <a:ext cx="91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D36C"/>
                </a:solidFill>
              </a:defRPr>
            </a:pPr>
            <a:r>
              <a:rPr sz="1800" b="1">
                <a:solidFill>
                  <a:srgbClr val="FFD36C"/>
                </a:solidFill>
              </a:rPr>
              <a:t>项目汇报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A88466-3ECB-431A-B390-4F7006DCF4F6}"/>
              </a:ext>
            </a:extLst>
          </p:cNvPr>
          <p:cNvSpPr>
            <a:spLocks noGrp="1"/>
          </p:cNvSpPr>
          <p:nvPr/>
        </p:nvSpPr>
        <p:spPr>
          <a:xfrm>
            <a:off x="14287500" y="914400"/>
            <a:ext cx="28956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FFE2AD">
                    <a:alpha val="82000"/>
                  </a:srgbClr>
                </a:solidFill>
              </a:defRPr>
            </a:pPr>
            <a:r>
              <a:rPr sz="1650" b="0">
                <a:solidFill>
                  <a:srgbClr val="FFE2AD">
                    <a:alpha val="82000"/>
                  </a:srgbClr>
                </a:solidFill>
              </a:rPr>
              <a:t>原生 HTML / Canvas 2D 叙事游戏</a:t>
            </a:r>
          </a:p>
        </p:txBody>
      </p:sp>
      <p:sp>
        <p:nvSpPr>
          <p:cNvPr id="5" name="cover-title">
            <a:extLst>
              <a:ext uri="{FF2B5EF4-FFF2-40B4-BE49-F238E27FC236}">
                <a16:creationId xmlns:a16="http://schemas.microsoft.com/office/drawing/2014/main" id="{AD935D6F-CDED-4FDF-A388-B05CDA977A04}"/>
              </a:ext>
            </a:extLst>
          </p:cNvPr>
          <p:cNvSpPr>
            <a:spLocks noGrp="1"/>
          </p:cNvSpPr>
          <p:nvPr/>
        </p:nvSpPr>
        <p:spPr>
          <a:xfrm>
            <a:off x="1104900" y="3200400"/>
            <a:ext cx="8572500" cy="2800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150" b="1">
                <a:solidFill>
                  <a:srgbClr val="FFF4BD"/>
                </a:solidFill>
              </a:defRPr>
            </a:pPr>
            <a:r>
              <a:rPr sz="9150" b="1">
                <a:solidFill>
                  <a:srgbClr val="FFF4BD"/>
                </a:solidFill>
              </a:rPr>
              <a:t>无法</a:t>
            </a:r>
          </a:p>
          <a:p>
            <a:pPr>
              <a:defRPr sz="9150" b="1">
                <a:solidFill>
                  <a:srgbClr val="FFF4BD"/>
                </a:solidFill>
              </a:defRPr>
            </a:pPr>
            <a:r>
              <a:rPr sz="9150" b="1">
                <a:solidFill>
                  <a:srgbClr val="FFF4BD"/>
                </a:solidFill>
              </a:rPr>
              <a:t>收敛</a:t>
            </a:r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BC50695A-A850-4D1A-A8C3-1D345B43A752}"/>
              </a:ext>
            </a:extLst>
          </p:cNvPr>
          <p:cNvSpPr>
            <a:spLocks noGrp="1"/>
          </p:cNvSpPr>
          <p:nvPr/>
        </p:nvSpPr>
        <p:spPr>
          <a:xfrm>
            <a:off x="1104900" y="6248400"/>
            <a:ext cx="97155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0">
                <a:solidFill>
                  <a:srgbClr val="FFE5B5">
                    <a:alpha val="92000"/>
                  </a:srgbClr>
                </a:solidFill>
              </a:defRPr>
            </a:pPr>
            <a:r>
              <a:rPr sz="2550" b="0">
                <a:solidFill>
                  <a:srgbClr val="FFE5B5">
                    <a:alpha val="92000"/>
                  </a:srgbClr>
                </a:solidFill>
              </a:rPr>
              <a:t>一个关于表达、误解与停止解释的叙事解谜游戏</a:t>
            </a:r>
          </a:p>
        </p:txBody>
      </p:sp>
      <p:sp>
        <p:nvSpPr>
          <p:cNvPr id="7" name="chip-白天：可验证问题">
            <a:extLst>
              <a:ext uri="{FF2B5EF4-FFF2-40B4-BE49-F238E27FC236}">
                <a16:creationId xmlns:a16="http://schemas.microsoft.com/office/drawing/2014/main" id="{95E47B20-2D40-453C-9972-2060F0B0B91E}"/>
              </a:ext>
            </a:extLst>
          </p:cNvPr>
          <p:cNvSpPr>
            <a:spLocks noGrp="1"/>
          </p:cNvSpPr>
          <p:nvPr/>
        </p:nvSpPr>
        <p:spPr>
          <a:xfrm>
            <a:off x="1104900" y="6909435"/>
            <a:ext cx="1790700" cy="407670"/>
          </a:xfrm>
          <a:prstGeom prst="roundRect">
            <a:avLst>
              <a:gd name="adj" fmla="val 14019"/>
            </a:avLst>
          </a:prstGeom>
          <a:solidFill>
            <a:srgbClr val="301C12">
              <a:alpha val="76000"/>
            </a:srgbClr>
          </a:solidFill>
          <a:ln w="19050">
            <a:solidFill>
              <a:srgbClr val="9FD56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351ACF-BCC2-458C-AF93-DF0E73BE72B8}"/>
              </a:ext>
            </a:extLst>
          </p:cNvPr>
          <p:cNvSpPr>
            <a:spLocks noGrp="1"/>
          </p:cNvSpPr>
          <p:nvPr/>
        </p:nvSpPr>
        <p:spPr>
          <a:xfrm>
            <a:off x="1276350" y="7010400"/>
            <a:ext cx="1447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9FD56F"/>
                </a:solidFill>
              </a:defRPr>
            </a:pPr>
            <a:r>
              <a:rPr sz="1425" b="1">
                <a:solidFill>
                  <a:srgbClr val="9FD56F"/>
                </a:solidFill>
              </a:rPr>
              <a:t>白天：可验证问题</a:t>
            </a:r>
          </a:p>
        </p:txBody>
      </p:sp>
      <p:sp>
        <p:nvSpPr>
          <p:cNvPr id="9" name="chip-夜晚：关系误读">
            <a:extLst>
              <a:ext uri="{FF2B5EF4-FFF2-40B4-BE49-F238E27FC236}">
                <a16:creationId xmlns:a16="http://schemas.microsoft.com/office/drawing/2014/main" id="{09DE4F45-30EE-4B0C-89EC-BC9133834A5E}"/>
              </a:ext>
            </a:extLst>
          </p:cNvPr>
          <p:cNvSpPr>
            <a:spLocks noGrp="1"/>
          </p:cNvSpPr>
          <p:nvPr/>
        </p:nvSpPr>
        <p:spPr>
          <a:xfrm>
            <a:off x="3048000" y="6909435"/>
            <a:ext cx="1609725" cy="407670"/>
          </a:xfrm>
          <a:prstGeom prst="roundRect">
            <a:avLst>
              <a:gd name="adj" fmla="val 14019"/>
            </a:avLst>
          </a:prstGeom>
          <a:solidFill>
            <a:srgbClr val="301C12">
              <a:alpha val="76000"/>
            </a:srgbClr>
          </a:solidFill>
          <a:ln w="19050">
            <a:solidFill>
              <a:srgbClr val="EF8AA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B46055-15E0-45BA-AC11-7E1C2BE2D72F}"/>
              </a:ext>
            </a:extLst>
          </p:cNvPr>
          <p:cNvSpPr>
            <a:spLocks noGrp="1"/>
          </p:cNvSpPr>
          <p:nvPr/>
        </p:nvSpPr>
        <p:spPr>
          <a:xfrm>
            <a:off x="3219450" y="7010400"/>
            <a:ext cx="127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EF8AA8"/>
                </a:solidFill>
              </a:defRPr>
            </a:pPr>
            <a:r>
              <a:rPr sz="1425" b="1">
                <a:solidFill>
                  <a:srgbClr val="EF8AA8"/>
                </a:solidFill>
              </a:rPr>
              <a:t>夜晚：关系误读</a:t>
            </a:r>
          </a:p>
        </p:txBody>
      </p:sp>
      <p:sp>
        <p:nvSpPr>
          <p:cNvPr id="11" name="chip-结局：边界重构">
            <a:extLst>
              <a:ext uri="{FF2B5EF4-FFF2-40B4-BE49-F238E27FC236}">
                <a16:creationId xmlns:a16="http://schemas.microsoft.com/office/drawing/2014/main" id="{70DE72EB-35BF-472B-B5B6-4D4FA6092CF4}"/>
              </a:ext>
            </a:extLst>
          </p:cNvPr>
          <p:cNvSpPr>
            <a:spLocks noGrp="1"/>
          </p:cNvSpPr>
          <p:nvPr/>
        </p:nvSpPr>
        <p:spPr>
          <a:xfrm>
            <a:off x="4810125" y="6909435"/>
            <a:ext cx="1609725" cy="407670"/>
          </a:xfrm>
          <a:prstGeom prst="roundRect">
            <a:avLst>
              <a:gd name="adj" fmla="val 14019"/>
            </a:avLst>
          </a:prstGeom>
          <a:solidFill>
            <a:srgbClr val="301C12">
              <a:alpha val="76000"/>
            </a:srgbClr>
          </a:solidFill>
          <a:ln w="19050">
            <a:solidFill>
              <a:srgbClr val="FFD36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86A6318-111E-4A21-9D4F-1B761AD2AA89}"/>
              </a:ext>
            </a:extLst>
          </p:cNvPr>
          <p:cNvSpPr>
            <a:spLocks noGrp="1"/>
          </p:cNvSpPr>
          <p:nvPr/>
        </p:nvSpPr>
        <p:spPr>
          <a:xfrm>
            <a:off x="4991100" y="7010400"/>
            <a:ext cx="127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D36C"/>
                </a:solidFill>
              </a:defRPr>
            </a:pPr>
            <a:r>
              <a:rPr sz="1425" b="1">
                <a:solidFill>
                  <a:srgbClr val="FFD36C"/>
                </a:solidFill>
              </a:rPr>
              <a:t>结局：边界重构</a:t>
            </a:r>
          </a:p>
        </p:txBody>
      </p:sp>
      <p:sp>
        <p:nvSpPr>
          <p:cNvPr id="13" name="cover-bottom">
            <a:extLst>
              <a:ext uri="{FF2B5EF4-FFF2-40B4-BE49-F238E27FC236}">
                <a16:creationId xmlns:a16="http://schemas.microsoft.com/office/drawing/2014/main" id="{B4C8AFC2-5D8A-4084-8BB7-C4F901F03D78}"/>
              </a:ext>
            </a:extLst>
          </p:cNvPr>
          <p:cNvSpPr>
            <a:spLocks noGrp="1"/>
          </p:cNvSpPr>
          <p:nvPr/>
        </p:nvSpPr>
        <p:spPr>
          <a:xfrm>
            <a:off x="1104900" y="9105900"/>
            <a:ext cx="16078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FFE6B1">
                    <a:alpha val="82000"/>
                  </a:srgbClr>
                </a:solidFill>
              </a:defRPr>
            </a:pPr>
            <a:r>
              <a:rPr sz="1800" b="0">
                <a:solidFill>
                  <a:srgbClr val="FFE6B1">
                    <a:alpha val="82000"/>
                  </a:srgbClr>
                </a:solidFill>
              </a:rPr>
              <a:t>作品主题 / 艺术形式 / 故事结构 / 视觉风格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9301110-3343-606E-71C9-550E0F17F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695" y="3193861"/>
            <a:ext cx="5381625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945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l="24987" r="24987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l="24987" r="24987"/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E7323D6-FFE5-4CFD-B0B1-9145762ECB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0C10">
              <a:alpha val="60000"/>
            </a:srgbClr>
          </a:solidFill>
        </p:spPr>
      </p:sp>
      <p:sp>
        <p:nvSpPr>
          <p:cNvPr id="4" name="kicker">
            <a:extLst>
              <a:ext uri="{FF2B5EF4-FFF2-40B4-BE49-F238E27FC236}">
                <a16:creationId xmlns:a16="http://schemas.microsoft.com/office/drawing/2014/main" id="{05F55BF0-354B-4BAD-8D42-AF9ECF3D4BF5}"/>
              </a:ext>
            </a:extLst>
          </p:cNvPr>
          <p:cNvSpPr>
            <a:spLocks noGrp="1"/>
          </p:cNvSpPr>
          <p:nvPr/>
        </p:nvSpPr>
        <p:spPr>
          <a:xfrm>
            <a:off x="1066800" y="81915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01 / CORE IDEA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FF65C13F-BF84-4FB0-A5D7-DB9E7CE7410C}"/>
              </a:ext>
            </a:extLst>
          </p:cNvPr>
          <p:cNvSpPr>
            <a:spLocks noGrp="1"/>
          </p:cNvSpPr>
          <p:nvPr/>
        </p:nvSpPr>
        <p:spPr>
          <a:xfrm>
            <a:off x="1066800" y="1295400"/>
            <a:ext cx="16154400" cy="1657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核心思想：</a:t>
            </a:r>
          </a:p>
          <a:p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能解决的问题会反馈，无法收敛的关系只会偏移</a:t>
            </a:r>
          </a:p>
        </p:txBody>
      </p:sp>
      <p:sp>
        <p:nvSpPr>
          <p:cNvPr id="6" name="slide-subtitle">
            <a:extLst>
              <a:ext uri="{FF2B5EF4-FFF2-40B4-BE49-F238E27FC236}">
                <a16:creationId xmlns:a16="http://schemas.microsoft.com/office/drawing/2014/main" id="{FD435DB6-B741-4FEC-9946-19A272EA5AC6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112395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FFE5B1">
                    <a:alpha val="88000"/>
                  </a:srgbClr>
                </a:solidFill>
              </a:defRPr>
            </a:pPr>
            <a:r>
              <a:rPr sz="2250" b="0">
                <a:solidFill>
                  <a:srgbClr val="FFE5B1">
                    <a:alpha val="88000"/>
                  </a:srgbClr>
                </a:solidFill>
              </a:rPr>
              <a:t>游戏把“表达”设计成一个系统：白天给出明确输入和结果，夜晚则让解释不断被重新解释。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800D82-07B8-402F-B848-A7A90F5AED60}"/>
              </a:ext>
            </a:extLst>
          </p:cNvPr>
          <p:cNvSpPr>
            <a:spLocks noGrp="1"/>
          </p:cNvSpPr>
          <p:nvPr/>
        </p:nvSpPr>
        <p:spPr>
          <a:xfrm>
            <a:off x="1066800" y="8591550"/>
            <a:ext cx="7772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9FD56F"/>
                </a:solidFill>
              </a:defRPr>
            </a:pPr>
            <a:r>
              <a:rPr sz="3000" b="1">
                <a:solidFill>
                  <a:srgbClr val="9FD56F"/>
                </a:solidFill>
              </a:rPr>
              <a:t>白天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635822-6D4D-4535-9449-1970E8458FF4}"/>
              </a:ext>
            </a:extLst>
          </p:cNvPr>
          <p:cNvSpPr>
            <a:spLocks noGrp="1"/>
          </p:cNvSpPr>
          <p:nvPr/>
        </p:nvSpPr>
        <p:spPr>
          <a:xfrm>
            <a:off x="1066800" y="9163050"/>
            <a:ext cx="7772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F5E6BB">
                    <a:alpha val="90000"/>
                  </a:srgbClr>
                </a:solidFill>
              </a:defRPr>
            </a:pPr>
            <a:r>
              <a:rPr sz="2025" b="0">
                <a:solidFill>
                  <a:srgbClr val="F5E6BB">
                    <a:alpha val="90000"/>
                  </a:srgbClr>
                </a:solidFill>
              </a:rPr>
              <a:t>问题可以拆分为步骤，可以验证，可以完成。玩家获得行动反馈。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D33203-1CAE-48D0-9A54-E3A125258346}"/>
              </a:ext>
            </a:extLst>
          </p:cNvPr>
          <p:cNvSpPr>
            <a:spLocks noGrp="1"/>
          </p:cNvSpPr>
          <p:nvPr/>
        </p:nvSpPr>
        <p:spPr>
          <a:xfrm>
            <a:off x="9448800" y="8591550"/>
            <a:ext cx="77724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EF8AA8"/>
                </a:solidFill>
              </a:defRPr>
            </a:pPr>
            <a:r>
              <a:rPr sz="3000" b="1">
                <a:solidFill>
                  <a:srgbClr val="EF8AA8"/>
                </a:solidFill>
              </a:rPr>
              <a:t>夜晚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7AAA36-0DCF-47E6-A64C-7C5EA8285248}"/>
              </a:ext>
            </a:extLst>
          </p:cNvPr>
          <p:cNvSpPr>
            <a:spLocks noGrp="1"/>
          </p:cNvSpPr>
          <p:nvPr/>
        </p:nvSpPr>
        <p:spPr>
          <a:xfrm>
            <a:off x="9448800" y="9163050"/>
            <a:ext cx="7772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F5E6BB">
                    <a:alpha val="90000"/>
                  </a:srgbClr>
                </a:solidFill>
              </a:defRPr>
            </a:pPr>
            <a:r>
              <a:rPr sz="2025" b="0">
                <a:solidFill>
                  <a:srgbClr val="F5E6BB">
                    <a:alpha val="90000"/>
                  </a:srgbClr>
                </a:solidFill>
              </a:rPr>
              <a:t>误解没有单一答案。越解释，越可能被转译成新的压力。</a:t>
            </a:r>
          </a:p>
        </p:txBody>
      </p:sp>
    </p:spTree>
    <p:extLst>
      <p:ext uri="{BB962C8B-B14F-4D97-AF65-F5344CB8AC3E}">
        <p14:creationId xmlns:p14="http://schemas.microsoft.com/office/powerpoint/2010/main" val="914282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bg-day4-presentation.png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bg-scrim">
            <a:extLst>
              <a:ext uri="{FF2B5EF4-FFF2-40B4-BE49-F238E27FC236}">
                <a16:creationId xmlns:a16="http://schemas.microsoft.com/office/drawing/2014/main" id="{08A06689-2775-422C-9509-64C951436D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80F11">
              <a:alpha val="72000"/>
            </a:srgbClr>
          </a:solidFill>
        </p:spPr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A08B7F28-4150-4653-B9D9-EE91FCC31A0A}"/>
              </a:ext>
            </a:extLst>
          </p:cNvPr>
          <p:cNvSpPr>
            <a:spLocks noGrp="1"/>
          </p:cNvSpPr>
          <p:nvPr/>
        </p:nvSpPr>
        <p:spPr>
          <a:xfrm>
            <a:off x="914400" y="704850"/>
            <a:ext cx="16459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02 / STRUCTURE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768072FA-951D-4B83-BCA3-AAA5E9898C7B}"/>
              </a:ext>
            </a:extLst>
          </p:cNvPr>
          <p:cNvSpPr>
            <a:spLocks noGrp="1"/>
          </p:cNvSpPr>
          <p:nvPr/>
        </p:nvSpPr>
        <p:spPr>
          <a:xfrm>
            <a:off x="914400" y="1181100"/>
            <a:ext cx="164592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叙事结构：四天循环，两个世界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AECE0FCD-B5AA-4CEE-93D1-54D419D5FD66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11239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FFE5B1">
                    <a:alpha val="88000"/>
                  </a:srgbClr>
                </a:solidFill>
              </a:defRPr>
            </a:pPr>
            <a:r>
              <a:rPr sz="2250" b="0">
                <a:solidFill>
                  <a:srgbClr val="FFE5B1">
                    <a:alpha val="88000"/>
                  </a:srgbClr>
                </a:solidFill>
              </a:rPr>
              <a:t>每一天都先处理现实问题，再进入同主题的人际误解。</a:t>
            </a:r>
          </a:p>
        </p:txBody>
      </p:sp>
      <p:sp>
        <p:nvSpPr>
          <p:cNvPr id="6" name="thumb-Day 1  修电脑网络">
            <a:extLst>
              <a:ext uri="{FF2B5EF4-FFF2-40B4-BE49-F238E27FC236}">
                <a16:creationId xmlns:a16="http://schemas.microsoft.com/office/drawing/2014/main" id="{14489D14-DA81-4BA8-B7C8-2E94FFDA2EA3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3986213" cy="2501265"/>
          </a:xfrm>
          <a:prstGeom prst="roundRect">
            <a:avLst>
              <a:gd name="adj" fmla="val 3808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l="5154" r="5154"/>
          <a:stretch>
            <a:fillRect/>
          </a:stretch>
        </p:blipFill>
        <p:spPr>
          <a:xfrm>
            <a:off x="914400" y="2876550"/>
            <a:ext cx="3986213" cy="250126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8506E9C-9852-46DD-A27D-BCFF7AD67C08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3986213" cy="2501265"/>
          </a:xfrm>
          <a:prstGeom prst="rect">
            <a:avLst/>
          </a:prstGeom>
          <a:solidFill>
            <a:srgbClr val="140E0F">
              <a:alpha val="34000"/>
            </a:srgbClr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10A3CF-7CF7-43D0-9CA1-B0CF8A27F1C9}"/>
              </a:ext>
            </a:extLst>
          </p:cNvPr>
          <p:cNvSpPr>
            <a:spLocks noGrp="1"/>
          </p:cNvSpPr>
          <p:nvPr/>
        </p:nvSpPr>
        <p:spPr>
          <a:xfrm>
            <a:off x="1085850" y="4991100"/>
            <a:ext cx="3638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9FD56F"/>
                </a:solidFill>
              </a:defRPr>
            </a:pPr>
            <a:r>
              <a:rPr sz="1575" b="1">
                <a:solidFill>
                  <a:srgbClr val="9FD56F"/>
                </a:solidFill>
              </a:rPr>
              <a:t>Day 1  修电脑网络</a:t>
            </a:r>
          </a:p>
        </p:txBody>
      </p:sp>
      <p:sp>
        <p:nvSpPr>
          <p:cNvPr id="10" name="thumb-Day 2  修改文档">
            <a:extLst>
              <a:ext uri="{FF2B5EF4-FFF2-40B4-BE49-F238E27FC236}">
                <a16:creationId xmlns:a16="http://schemas.microsoft.com/office/drawing/2014/main" id="{3FE4833B-152F-4BE7-BF29-6945DD41C474}"/>
              </a:ext>
            </a:extLst>
          </p:cNvPr>
          <p:cNvSpPr>
            <a:spLocks noGrp="1"/>
          </p:cNvSpPr>
          <p:nvPr/>
        </p:nvSpPr>
        <p:spPr>
          <a:xfrm>
            <a:off x="5072063" y="2876550"/>
            <a:ext cx="3986213" cy="2501265"/>
          </a:xfrm>
          <a:prstGeom prst="roundRect">
            <a:avLst>
              <a:gd name="adj" fmla="val 3808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l="5154" r="5154"/>
          <a:stretch>
            <a:fillRect/>
          </a:stretch>
        </p:blipFill>
        <p:spPr>
          <a:xfrm>
            <a:off x="5072063" y="2876550"/>
            <a:ext cx="3986213" cy="250126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C74C813-77C1-4100-AEF0-5D905A0AA0C0}"/>
              </a:ext>
            </a:extLst>
          </p:cNvPr>
          <p:cNvSpPr>
            <a:spLocks noGrp="1"/>
          </p:cNvSpPr>
          <p:nvPr/>
        </p:nvSpPr>
        <p:spPr>
          <a:xfrm>
            <a:off x="5072063" y="2876550"/>
            <a:ext cx="3986213" cy="2501265"/>
          </a:xfrm>
          <a:prstGeom prst="rect">
            <a:avLst/>
          </a:prstGeom>
          <a:solidFill>
            <a:srgbClr val="140E0F">
              <a:alpha val="34000"/>
            </a:srgbClr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64A2FB-6749-4213-8645-442CDB23BC12}"/>
              </a:ext>
            </a:extLst>
          </p:cNvPr>
          <p:cNvSpPr>
            <a:spLocks noGrp="1"/>
          </p:cNvSpPr>
          <p:nvPr/>
        </p:nvSpPr>
        <p:spPr>
          <a:xfrm>
            <a:off x="5238750" y="4991100"/>
            <a:ext cx="3638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9FD56F"/>
                </a:solidFill>
              </a:defRPr>
            </a:pPr>
            <a:r>
              <a:rPr sz="1575" b="1">
                <a:solidFill>
                  <a:srgbClr val="9FD56F"/>
                </a:solidFill>
              </a:rPr>
              <a:t>Day 2  修改文档</a:t>
            </a:r>
          </a:p>
        </p:txBody>
      </p:sp>
      <p:sp>
        <p:nvSpPr>
          <p:cNvPr id="14" name="thumb-Day 3  整理房间">
            <a:extLst>
              <a:ext uri="{FF2B5EF4-FFF2-40B4-BE49-F238E27FC236}">
                <a16:creationId xmlns:a16="http://schemas.microsoft.com/office/drawing/2014/main" id="{F9C97BB2-922C-414A-AAB7-1C9B8A0618DE}"/>
              </a:ext>
            </a:extLst>
          </p:cNvPr>
          <p:cNvSpPr>
            <a:spLocks noGrp="1"/>
          </p:cNvSpPr>
          <p:nvPr/>
        </p:nvSpPr>
        <p:spPr>
          <a:xfrm>
            <a:off x="9229725" y="2876550"/>
            <a:ext cx="3986213" cy="2501265"/>
          </a:xfrm>
          <a:prstGeom prst="roundRect">
            <a:avLst>
              <a:gd name="adj" fmla="val 3808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rcRect l="5154" r="5154"/>
          <a:stretch>
            <a:fillRect/>
          </a:stretch>
        </p:blipFill>
        <p:spPr>
          <a:xfrm>
            <a:off x="9229725" y="2876550"/>
            <a:ext cx="3986213" cy="250126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BE59E88-EDA5-4AD7-812E-38D67E507B4E}"/>
              </a:ext>
            </a:extLst>
          </p:cNvPr>
          <p:cNvSpPr>
            <a:spLocks noGrp="1"/>
          </p:cNvSpPr>
          <p:nvPr/>
        </p:nvSpPr>
        <p:spPr>
          <a:xfrm>
            <a:off x="9229725" y="2876550"/>
            <a:ext cx="3986213" cy="2501265"/>
          </a:xfrm>
          <a:prstGeom prst="rect">
            <a:avLst/>
          </a:prstGeom>
          <a:solidFill>
            <a:srgbClr val="140E0F">
              <a:alpha val="34000"/>
            </a:srgbClr>
          </a:solidFill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FEAB2D-F48B-4B62-8C72-B35131B96C9D}"/>
              </a:ext>
            </a:extLst>
          </p:cNvPr>
          <p:cNvSpPr>
            <a:spLocks noGrp="1"/>
          </p:cNvSpPr>
          <p:nvPr/>
        </p:nvSpPr>
        <p:spPr>
          <a:xfrm>
            <a:off x="9410700" y="4991100"/>
            <a:ext cx="3638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9FD56F"/>
                </a:solidFill>
              </a:defRPr>
            </a:pPr>
            <a:r>
              <a:rPr sz="1575" b="1">
                <a:solidFill>
                  <a:srgbClr val="9FD56F"/>
                </a:solidFill>
              </a:rPr>
              <a:t>Day 3  整理房间</a:t>
            </a:r>
          </a:p>
        </p:txBody>
      </p:sp>
      <p:sp>
        <p:nvSpPr>
          <p:cNvPr id="18" name="thumb-Day 4  准备汇报">
            <a:extLst>
              <a:ext uri="{FF2B5EF4-FFF2-40B4-BE49-F238E27FC236}">
                <a16:creationId xmlns:a16="http://schemas.microsoft.com/office/drawing/2014/main" id="{B4395692-E930-4423-93A6-413303BAFD9F}"/>
              </a:ext>
            </a:extLst>
          </p:cNvPr>
          <p:cNvSpPr>
            <a:spLocks noGrp="1"/>
          </p:cNvSpPr>
          <p:nvPr/>
        </p:nvSpPr>
        <p:spPr>
          <a:xfrm>
            <a:off x="13387388" y="2876550"/>
            <a:ext cx="3986213" cy="2501265"/>
          </a:xfrm>
          <a:prstGeom prst="roundRect">
            <a:avLst>
              <a:gd name="adj" fmla="val 3808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l="5154" r="5154"/>
          <a:stretch>
            <a:fillRect/>
          </a:stretch>
        </p:blipFill>
        <p:spPr>
          <a:xfrm>
            <a:off x="13387388" y="2876550"/>
            <a:ext cx="3986213" cy="2501265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3A356672-68A3-4791-8920-3F177CF5D198}"/>
              </a:ext>
            </a:extLst>
          </p:cNvPr>
          <p:cNvSpPr>
            <a:spLocks noGrp="1"/>
          </p:cNvSpPr>
          <p:nvPr/>
        </p:nvSpPr>
        <p:spPr>
          <a:xfrm>
            <a:off x="13387388" y="2876550"/>
            <a:ext cx="3986213" cy="2501265"/>
          </a:xfrm>
          <a:prstGeom prst="rect">
            <a:avLst/>
          </a:prstGeom>
          <a:solidFill>
            <a:srgbClr val="140E0F">
              <a:alpha val="34000"/>
            </a:srgbClr>
          </a:solidFill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F7402E-83F4-4C28-8AB8-F35C49598439}"/>
              </a:ext>
            </a:extLst>
          </p:cNvPr>
          <p:cNvSpPr>
            <a:spLocks noGrp="1"/>
          </p:cNvSpPr>
          <p:nvPr/>
        </p:nvSpPr>
        <p:spPr>
          <a:xfrm>
            <a:off x="13563600" y="4991100"/>
            <a:ext cx="3638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9FD56F"/>
                </a:solidFill>
              </a:defRPr>
            </a:pPr>
            <a:r>
              <a:rPr sz="1575" b="1">
                <a:solidFill>
                  <a:srgbClr val="9FD56F"/>
                </a:solidFill>
              </a:rPr>
              <a:t>Day 4  准备汇报</a:t>
            </a:r>
          </a:p>
        </p:txBody>
      </p:sp>
      <p:sp>
        <p:nvSpPr>
          <p:cNvPr id="22" name="thumb-Night 1  家庭对话">
            <a:extLst>
              <a:ext uri="{FF2B5EF4-FFF2-40B4-BE49-F238E27FC236}">
                <a16:creationId xmlns:a16="http://schemas.microsoft.com/office/drawing/2014/main" id="{C9F0DCE7-B6A3-434E-9A1E-9407C3FEBDBD}"/>
              </a:ext>
            </a:extLst>
          </p:cNvPr>
          <p:cNvSpPr>
            <a:spLocks noGrp="1"/>
          </p:cNvSpPr>
          <p:nvPr/>
        </p:nvSpPr>
        <p:spPr>
          <a:xfrm>
            <a:off x="914400" y="5549265"/>
            <a:ext cx="3986213" cy="2501265"/>
          </a:xfrm>
          <a:prstGeom prst="roundRect">
            <a:avLst>
              <a:gd name="adj" fmla="val 3808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rcRect l="5154" r="5154"/>
          <a:stretch>
            <a:fillRect/>
          </a:stretch>
        </p:blipFill>
        <p:spPr>
          <a:xfrm>
            <a:off x="914400" y="5549265"/>
            <a:ext cx="3986213" cy="2501265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D88E10B8-0A0E-410E-9AA8-9649CEE903B4}"/>
              </a:ext>
            </a:extLst>
          </p:cNvPr>
          <p:cNvSpPr>
            <a:spLocks noGrp="1"/>
          </p:cNvSpPr>
          <p:nvPr/>
        </p:nvSpPr>
        <p:spPr>
          <a:xfrm>
            <a:off x="914400" y="5549265"/>
            <a:ext cx="3986213" cy="2501265"/>
          </a:xfrm>
          <a:prstGeom prst="rect">
            <a:avLst/>
          </a:prstGeom>
          <a:solidFill>
            <a:srgbClr val="140E0F">
              <a:alpha val="34000"/>
            </a:srgbClr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1E1255E-D6F8-4DCA-9D59-B43CF4CF2875}"/>
              </a:ext>
            </a:extLst>
          </p:cNvPr>
          <p:cNvSpPr>
            <a:spLocks noGrp="1"/>
          </p:cNvSpPr>
          <p:nvPr/>
        </p:nvSpPr>
        <p:spPr>
          <a:xfrm>
            <a:off x="1085850" y="7658100"/>
            <a:ext cx="3638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EF8AA8"/>
                </a:solidFill>
              </a:defRPr>
            </a:pPr>
            <a:r>
              <a:rPr sz="1575" b="1">
                <a:solidFill>
                  <a:srgbClr val="EF8AA8"/>
                </a:solidFill>
              </a:rPr>
              <a:t>Night 1  家庭对话</a:t>
            </a:r>
          </a:p>
        </p:txBody>
      </p:sp>
      <p:sp>
        <p:nvSpPr>
          <p:cNvPr id="26" name="thumb-Night 2  朋友聊天">
            <a:extLst>
              <a:ext uri="{FF2B5EF4-FFF2-40B4-BE49-F238E27FC236}">
                <a16:creationId xmlns:a16="http://schemas.microsoft.com/office/drawing/2014/main" id="{57CCA535-39BA-43D7-97B5-CDD42B3D15F0}"/>
              </a:ext>
            </a:extLst>
          </p:cNvPr>
          <p:cNvSpPr>
            <a:spLocks noGrp="1"/>
          </p:cNvSpPr>
          <p:nvPr/>
        </p:nvSpPr>
        <p:spPr>
          <a:xfrm>
            <a:off x="5072063" y="5549265"/>
            <a:ext cx="3986213" cy="2501265"/>
          </a:xfrm>
          <a:prstGeom prst="roundRect">
            <a:avLst>
              <a:gd name="adj" fmla="val 3808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8"/>
          <a:srcRect l="5154" r="5154"/>
          <a:stretch>
            <a:fillRect/>
          </a:stretch>
        </p:blipFill>
        <p:spPr>
          <a:xfrm>
            <a:off x="5072063" y="5549265"/>
            <a:ext cx="3986213" cy="2501265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86E72D5C-0A30-4644-B647-448B55905024}"/>
              </a:ext>
            </a:extLst>
          </p:cNvPr>
          <p:cNvSpPr>
            <a:spLocks noGrp="1"/>
          </p:cNvSpPr>
          <p:nvPr/>
        </p:nvSpPr>
        <p:spPr>
          <a:xfrm>
            <a:off x="5072063" y="5549265"/>
            <a:ext cx="3986213" cy="2501265"/>
          </a:xfrm>
          <a:prstGeom prst="rect">
            <a:avLst/>
          </a:prstGeom>
          <a:solidFill>
            <a:srgbClr val="140E0F">
              <a:alpha val="34000"/>
            </a:srgbClr>
          </a:solidFill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1DED50E-B5C7-4FA3-B50F-0961670DB842}"/>
              </a:ext>
            </a:extLst>
          </p:cNvPr>
          <p:cNvSpPr>
            <a:spLocks noGrp="1"/>
          </p:cNvSpPr>
          <p:nvPr/>
        </p:nvSpPr>
        <p:spPr>
          <a:xfrm>
            <a:off x="5238750" y="7658100"/>
            <a:ext cx="3638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EF8AA8"/>
                </a:solidFill>
              </a:defRPr>
            </a:pPr>
            <a:r>
              <a:rPr sz="1575" b="1">
                <a:solidFill>
                  <a:srgbClr val="EF8AA8"/>
                </a:solidFill>
              </a:rPr>
              <a:t>Night 2  朋友聊天</a:t>
            </a:r>
          </a:p>
        </p:txBody>
      </p:sp>
      <p:sp>
        <p:nvSpPr>
          <p:cNvPr id="30" name="thumb-Night 3  工作沟通">
            <a:extLst>
              <a:ext uri="{FF2B5EF4-FFF2-40B4-BE49-F238E27FC236}">
                <a16:creationId xmlns:a16="http://schemas.microsoft.com/office/drawing/2014/main" id="{77689A86-3C1F-454B-911F-29289ED766D5}"/>
              </a:ext>
            </a:extLst>
          </p:cNvPr>
          <p:cNvSpPr>
            <a:spLocks noGrp="1"/>
          </p:cNvSpPr>
          <p:nvPr/>
        </p:nvSpPr>
        <p:spPr>
          <a:xfrm>
            <a:off x="9229725" y="5549265"/>
            <a:ext cx="3986213" cy="2501265"/>
          </a:xfrm>
          <a:prstGeom prst="roundRect">
            <a:avLst>
              <a:gd name="adj" fmla="val 3808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9"/>
          <a:srcRect l="5154" r="5154"/>
          <a:stretch>
            <a:fillRect/>
          </a:stretch>
        </p:blipFill>
        <p:spPr>
          <a:xfrm>
            <a:off x="9229725" y="5549265"/>
            <a:ext cx="3986213" cy="2501265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9931E809-FC5F-43F2-83DA-4AD444E22836}"/>
              </a:ext>
            </a:extLst>
          </p:cNvPr>
          <p:cNvSpPr>
            <a:spLocks noGrp="1"/>
          </p:cNvSpPr>
          <p:nvPr/>
        </p:nvSpPr>
        <p:spPr>
          <a:xfrm>
            <a:off x="9229725" y="5549265"/>
            <a:ext cx="3986213" cy="2501265"/>
          </a:xfrm>
          <a:prstGeom prst="rect">
            <a:avLst/>
          </a:prstGeom>
          <a:solidFill>
            <a:srgbClr val="140E0F">
              <a:alpha val="34000"/>
            </a:srgbClr>
          </a:solidFill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67EA447-8B3E-4A20-BF93-CCF0BB557107}"/>
              </a:ext>
            </a:extLst>
          </p:cNvPr>
          <p:cNvSpPr>
            <a:spLocks noGrp="1"/>
          </p:cNvSpPr>
          <p:nvPr/>
        </p:nvSpPr>
        <p:spPr>
          <a:xfrm>
            <a:off x="9410700" y="7658100"/>
            <a:ext cx="3638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EF8AA8"/>
                </a:solidFill>
              </a:defRPr>
            </a:pPr>
            <a:r>
              <a:rPr sz="1575" b="1">
                <a:solidFill>
                  <a:srgbClr val="EF8AA8"/>
                </a:solidFill>
              </a:rPr>
              <a:t>Night 3  工作沟通</a:t>
            </a:r>
          </a:p>
        </p:txBody>
      </p:sp>
      <p:sp>
        <p:nvSpPr>
          <p:cNvPr id="34" name="thumb-Night 4  亲密关系">
            <a:extLst>
              <a:ext uri="{FF2B5EF4-FFF2-40B4-BE49-F238E27FC236}">
                <a16:creationId xmlns:a16="http://schemas.microsoft.com/office/drawing/2014/main" id="{8AA6D4B9-1148-4CDD-8387-DF22D351AFAD}"/>
              </a:ext>
            </a:extLst>
          </p:cNvPr>
          <p:cNvSpPr>
            <a:spLocks noGrp="1"/>
          </p:cNvSpPr>
          <p:nvPr/>
        </p:nvSpPr>
        <p:spPr>
          <a:xfrm>
            <a:off x="13387388" y="5549265"/>
            <a:ext cx="3986213" cy="2501265"/>
          </a:xfrm>
          <a:prstGeom prst="roundRect">
            <a:avLst>
              <a:gd name="adj" fmla="val 3808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0"/>
          <a:srcRect l="5154" r="5154"/>
          <a:stretch>
            <a:fillRect/>
          </a:stretch>
        </p:blipFill>
        <p:spPr>
          <a:xfrm>
            <a:off x="13387388" y="5549265"/>
            <a:ext cx="3986213" cy="2501265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660AA762-E989-445A-A278-201B6950AD4E}"/>
              </a:ext>
            </a:extLst>
          </p:cNvPr>
          <p:cNvSpPr>
            <a:spLocks noGrp="1"/>
          </p:cNvSpPr>
          <p:nvPr/>
        </p:nvSpPr>
        <p:spPr>
          <a:xfrm>
            <a:off x="13387388" y="5549265"/>
            <a:ext cx="3986213" cy="2501265"/>
          </a:xfrm>
          <a:prstGeom prst="rect">
            <a:avLst/>
          </a:prstGeom>
          <a:solidFill>
            <a:srgbClr val="140E0F">
              <a:alpha val="34000"/>
            </a:srgbClr>
          </a:solidFill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4CED9C8-AD07-4775-9979-BA7AD926D377}"/>
              </a:ext>
            </a:extLst>
          </p:cNvPr>
          <p:cNvSpPr>
            <a:spLocks noGrp="1"/>
          </p:cNvSpPr>
          <p:nvPr/>
        </p:nvSpPr>
        <p:spPr>
          <a:xfrm>
            <a:off x="13563600" y="7658100"/>
            <a:ext cx="3638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EF8AA8"/>
                </a:solidFill>
              </a:defRPr>
            </a:pPr>
            <a:r>
              <a:rPr sz="1575" b="1">
                <a:solidFill>
                  <a:srgbClr val="EF8AA8"/>
                </a:solidFill>
              </a:rPr>
              <a:t>Night 4  亲密关系</a:t>
            </a: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41959798-5E54-41E3-9938-985DAF59A3A8}"/>
              </a:ext>
            </a:extLst>
          </p:cNvPr>
          <p:cNvSpPr>
            <a:spLocks noGrp="1"/>
          </p:cNvSpPr>
          <p:nvPr/>
        </p:nvSpPr>
        <p:spPr>
          <a:xfrm>
            <a:off x="1828800" y="8953500"/>
            <a:ext cx="1714500" cy="38100"/>
          </a:xfrm>
          <a:prstGeom prst="rect">
            <a:avLst/>
          </a:prstGeom>
          <a:solidFill>
            <a:srgbClr val="FFD36C">
              <a:alpha val="68000"/>
            </a:srgbClr>
          </a:solidFill>
          <a:ln w="0">
            <a:solidFill>
              <a:srgbClr val="FFD36C">
                <a:alpha val="68000"/>
              </a:srgbClr>
            </a:solidFill>
            <a:prstDash val="solid"/>
          </a:ln>
        </p:spPr>
      </p:sp>
      <p:sp>
        <p:nvSpPr>
          <p:cNvPr id="39" name="footer-label">
            <a:extLst>
              <a:ext uri="{FF2B5EF4-FFF2-40B4-BE49-F238E27FC236}">
                <a16:creationId xmlns:a16="http://schemas.microsoft.com/office/drawing/2014/main" id="{DB69FEA6-B183-4133-A31B-D59A94D5E5E2}"/>
              </a:ext>
            </a:extLst>
          </p:cNvPr>
          <p:cNvSpPr>
            <a:spLocks noGrp="1"/>
          </p:cNvSpPr>
          <p:nvPr/>
        </p:nvSpPr>
        <p:spPr>
          <a:xfrm>
            <a:off x="12306300" y="8858250"/>
            <a:ext cx="4171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FFE2A5">
                    <a:alpha val="78000"/>
                  </a:srgbClr>
                </a:solidFill>
              </a:defRPr>
            </a:pPr>
            <a:r>
              <a:rPr sz="1425" b="0">
                <a:solidFill>
                  <a:srgbClr val="FFE2A5">
                    <a:alpha val="78000"/>
                  </a:srgbClr>
                </a:solidFill>
              </a:rPr>
              <a:t>白天推进秩序，夜晚暴露偏移；循环本身就是主题。</a:t>
            </a:r>
          </a:p>
        </p:txBody>
      </p:sp>
    </p:spTree>
    <p:extLst>
      <p:ext uri="{BB962C8B-B14F-4D97-AF65-F5344CB8AC3E}">
        <p14:creationId xmlns:p14="http://schemas.microsoft.com/office/powerpoint/2010/main" val="199824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g-night2-friend.png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bg-scrim">
            <a:extLst>
              <a:ext uri="{FF2B5EF4-FFF2-40B4-BE49-F238E27FC236}">
                <a16:creationId xmlns:a16="http://schemas.microsoft.com/office/drawing/2014/main" id="{564BA6F8-6A32-40EF-9AB1-524C8A9C38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0C18">
              <a:alpha val="72000"/>
            </a:srgbClr>
          </a:solidFill>
        </p:spPr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FFF6D83C-CFAD-4A4B-B424-76D9BF94A29C}"/>
              </a:ext>
            </a:extLst>
          </p:cNvPr>
          <p:cNvSpPr>
            <a:spLocks noGrp="1"/>
          </p:cNvSpPr>
          <p:nvPr/>
        </p:nvSpPr>
        <p:spPr>
          <a:xfrm>
            <a:off x="1028700" y="781050"/>
            <a:ext cx="16230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03 / STORY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6B701A7E-1B0E-46D7-896F-D01FDCF6013E}"/>
              </a:ext>
            </a:extLst>
          </p:cNvPr>
          <p:cNvSpPr>
            <a:spLocks noGrp="1"/>
          </p:cNvSpPr>
          <p:nvPr/>
        </p:nvSpPr>
        <p:spPr>
          <a:xfrm>
            <a:off x="1028700" y="1257300"/>
            <a:ext cx="162306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故事内容：不是寻找真相，而是观察解释如何失效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305B6C-4964-4DB7-B8DD-352F275DC59F}"/>
              </a:ext>
            </a:extLst>
          </p:cNvPr>
          <p:cNvSpPr>
            <a:spLocks noGrp="1"/>
          </p:cNvSpPr>
          <p:nvPr/>
        </p:nvSpPr>
        <p:spPr>
          <a:xfrm>
            <a:off x="1028700" y="2286000"/>
            <a:ext cx="9525" cy="9525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D489D4-7BE0-4BC6-A540-0383E81FEEB1}"/>
              </a:ext>
            </a:extLst>
          </p:cNvPr>
          <p:cNvSpPr>
            <a:spLocks noGrp="1"/>
          </p:cNvSpPr>
          <p:nvPr/>
        </p:nvSpPr>
        <p:spPr>
          <a:xfrm>
            <a:off x="1028700" y="2743200"/>
            <a:ext cx="70675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9FD56F"/>
                </a:solidFill>
              </a:defRPr>
            </a:pPr>
            <a:r>
              <a:rPr sz="3150" b="1">
                <a:solidFill>
                  <a:srgbClr val="9FD56F"/>
                </a:solidFill>
              </a:rPr>
              <a:t>白天的四个问题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7DEE4E-3F6F-448B-83C7-E62788990E97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7067550" cy="1828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FFF3C3"/>
                </a:solidFill>
              </a:defRPr>
            </a:pPr>
            <a:r>
              <a:rPr sz="3000" b="1">
                <a:solidFill>
                  <a:srgbClr val="FFF3C3"/>
                </a:solidFill>
              </a:rPr>
              <a:t>网络断开</a:t>
            </a:r>
          </a:p>
          <a:p>
            <a:pPr>
              <a:defRPr sz="3000" b="1">
                <a:solidFill>
                  <a:srgbClr val="FFF3C3"/>
                </a:solidFill>
              </a:defRPr>
            </a:pPr>
            <a:r>
              <a:rPr sz="3000" b="1">
                <a:solidFill>
                  <a:srgbClr val="FFF3C3"/>
                </a:solidFill>
              </a:rPr>
              <a:t>文档混乱</a:t>
            </a:r>
          </a:p>
          <a:p>
            <a:pPr>
              <a:defRPr sz="3000" b="1">
                <a:solidFill>
                  <a:srgbClr val="FFF3C3"/>
                </a:solidFill>
              </a:defRPr>
            </a:pPr>
            <a:r>
              <a:rPr sz="3000" b="1">
                <a:solidFill>
                  <a:srgbClr val="FFF3C3"/>
                </a:solidFill>
              </a:rPr>
              <a:t>房间失序</a:t>
            </a:r>
          </a:p>
          <a:p>
            <a:pPr>
              <a:defRPr sz="3000" b="1">
                <a:solidFill>
                  <a:srgbClr val="FFF3C3"/>
                </a:solidFill>
              </a:defRPr>
            </a:pPr>
            <a:r>
              <a:rPr sz="3000" b="1">
                <a:solidFill>
                  <a:srgbClr val="FFF3C3"/>
                </a:solidFill>
              </a:rPr>
              <a:t>汇报未成形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BFE558-6AF6-4BA1-A004-2BBADF6405B8}"/>
              </a:ext>
            </a:extLst>
          </p:cNvPr>
          <p:cNvSpPr>
            <a:spLocks noGrp="1"/>
          </p:cNvSpPr>
          <p:nvPr/>
        </p:nvSpPr>
        <p:spPr>
          <a:xfrm>
            <a:off x="1028700" y="5581650"/>
            <a:ext cx="70675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FFE6B9">
                    <a:alpha val="88000"/>
                  </a:srgbClr>
                </a:solidFill>
              </a:defRPr>
            </a:pPr>
            <a:r>
              <a:rPr sz="2025" b="0">
                <a:solidFill>
                  <a:srgbClr val="FFE6B9">
                    <a:alpha val="88000"/>
                  </a:srgbClr>
                </a:solidFill>
              </a:rPr>
              <a:t>它们都能被拆成动作：检查、整理、归位、练习。完成后世界变稳定。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D0C1E9-665C-492F-A70F-7108E2650C36}"/>
              </a:ext>
            </a:extLst>
          </p:cNvPr>
          <p:cNvSpPr>
            <a:spLocks noGrp="1"/>
          </p:cNvSpPr>
          <p:nvPr/>
        </p:nvSpPr>
        <p:spPr>
          <a:xfrm>
            <a:off x="8953500" y="2743200"/>
            <a:ext cx="83058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EF8AA8"/>
                </a:solidFill>
              </a:defRPr>
            </a:pPr>
            <a:r>
              <a:rPr sz="3150" b="1">
                <a:solidFill>
                  <a:srgbClr val="EF8AA8"/>
                </a:solidFill>
              </a:rPr>
              <a:t>夜晚的四段关系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A13F80-FF84-42E8-A4D1-A1E19758EC36}"/>
              </a:ext>
            </a:extLst>
          </p:cNvPr>
          <p:cNvSpPr>
            <a:spLocks noGrp="1"/>
          </p:cNvSpPr>
          <p:nvPr/>
        </p:nvSpPr>
        <p:spPr>
          <a:xfrm>
            <a:off x="8953500" y="3486150"/>
            <a:ext cx="8305800" cy="1562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FFE6B3"/>
                </a:solidFill>
              </a:defRPr>
            </a:pPr>
            <a:r>
              <a:rPr sz="2550" b="1">
                <a:solidFill>
                  <a:srgbClr val="FFE6B3"/>
                </a:solidFill>
              </a:rPr>
              <a:t>家人把疲惫听成指责</a:t>
            </a:r>
          </a:p>
          <a:p>
            <a:pPr>
              <a:defRPr sz="2550" b="1">
                <a:solidFill>
                  <a:srgbClr val="FFE6B3"/>
                </a:solidFill>
              </a:defRPr>
            </a:pPr>
            <a:r>
              <a:rPr sz="2550" b="1">
                <a:solidFill>
                  <a:srgbClr val="FFE6B3"/>
                </a:solidFill>
              </a:rPr>
              <a:t>朋友把休息听成疏远</a:t>
            </a:r>
          </a:p>
          <a:p>
            <a:pPr>
              <a:defRPr sz="2550" b="1">
                <a:solidFill>
                  <a:srgbClr val="FFE6B3"/>
                </a:solidFill>
              </a:defRPr>
            </a:pPr>
            <a:r>
              <a:rPr sz="2550" b="1">
                <a:solidFill>
                  <a:srgbClr val="FFE6B3"/>
                </a:solidFill>
              </a:rPr>
              <a:t>同事把风险听成否定</a:t>
            </a:r>
          </a:p>
          <a:p>
            <a:pPr>
              <a:defRPr sz="2550" b="1">
                <a:solidFill>
                  <a:srgbClr val="FFE6B3"/>
                </a:solidFill>
              </a:defRPr>
            </a:pPr>
            <a:r>
              <a:rPr sz="2550" b="1">
                <a:solidFill>
                  <a:srgbClr val="FFE6B3"/>
                </a:solidFill>
              </a:rPr>
              <a:t>亲密关系把边界听成冷淡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E42D78-D032-4B64-BED0-3874C2B07356}"/>
              </a:ext>
            </a:extLst>
          </p:cNvPr>
          <p:cNvSpPr>
            <a:spLocks noGrp="1"/>
          </p:cNvSpPr>
          <p:nvPr/>
        </p:nvSpPr>
        <p:spPr>
          <a:xfrm>
            <a:off x="8953500" y="5295900"/>
            <a:ext cx="83058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FFE6B9">
                    <a:alpha val="88000"/>
                  </a:srgbClr>
                </a:solidFill>
              </a:defRPr>
            </a:pPr>
            <a:r>
              <a:rPr sz="2025" b="0">
                <a:solidFill>
                  <a:srgbClr val="FFE6B9">
                    <a:alpha val="88000"/>
                  </a:srgbClr>
                </a:solidFill>
              </a:rPr>
              <a:t>玩家的核心体验不是“说服成功”，而是感到语言被不断改写。</a:t>
            </a:r>
          </a:p>
        </p:txBody>
      </p:sp>
    </p:spTree>
    <p:extLst>
      <p:ext uri="{BB962C8B-B14F-4D97-AF65-F5344CB8AC3E}">
        <p14:creationId xmlns:p14="http://schemas.microsoft.com/office/powerpoint/2010/main" val="1853365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bg-night3-work.png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bg-scrim">
            <a:extLst>
              <a:ext uri="{FF2B5EF4-FFF2-40B4-BE49-F238E27FC236}">
                <a16:creationId xmlns:a16="http://schemas.microsoft.com/office/drawing/2014/main" id="{638D5893-A89C-4886-9229-505C34A10C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0C16">
              <a:alpha val="76000"/>
            </a:srgbClr>
          </a:solidFill>
        </p:spPr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9DA32C9B-4251-4BD2-8198-B299142D5AF3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16459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04 / MECHANICS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79694E0E-4E89-4C21-AFE4-B5B6BF4B0C31}"/>
              </a:ext>
            </a:extLst>
          </p:cNvPr>
          <p:cNvSpPr>
            <a:spLocks noGrp="1"/>
          </p:cNvSpPr>
          <p:nvPr/>
        </p:nvSpPr>
        <p:spPr>
          <a:xfrm>
            <a:off x="914400" y="1200150"/>
            <a:ext cx="164592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系统设计：选择不是正确答案，而是代价分配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8AD0A189-DF9A-4831-93B0-F9D9344277F0}"/>
              </a:ext>
            </a:extLst>
          </p:cNvPr>
          <p:cNvSpPr>
            <a:spLocks noGrp="1"/>
          </p:cNvSpPr>
          <p:nvPr/>
        </p:nvSpPr>
        <p:spPr>
          <a:xfrm>
            <a:off x="914400" y="2228850"/>
            <a:ext cx="11239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FFE5B1">
                    <a:alpha val="88000"/>
                  </a:srgbClr>
                </a:solidFill>
              </a:defRPr>
            </a:pPr>
            <a:r>
              <a:rPr sz="2250" b="0">
                <a:solidFill>
                  <a:srgbClr val="FFE5B1">
                    <a:alpha val="88000"/>
                  </a:srgbClr>
                </a:solidFill>
              </a:rPr>
              <a:t>三类夜晚选择分别改变清晰度、理解率、解释成本和自我保留度。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DCD39F8-40BE-4C76-AC62-0FECC6255633}"/>
              </a:ext>
            </a:extLst>
          </p:cNvPr>
          <p:cNvSpPr>
            <a:spLocks noGrp="1"/>
          </p:cNvSpPr>
          <p:nvPr/>
        </p:nvSpPr>
        <p:spPr>
          <a:xfrm>
            <a:off x="914400" y="2914650"/>
            <a:ext cx="8843772" cy="1257300"/>
          </a:xfrm>
          <a:prstGeom prst="roundRect">
            <a:avLst>
              <a:gd name="adj" fmla="val 6061"/>
            </a:avLst>
          </a:prstGeom>
          <a:solidFill>
            <a:srgbClr val="462518">
              <a:alpha val="72000"/>
            </a:srgbClr>
          </a:solidFill>
          <a:ln w="19050">
            <a:solidFill>
              <a:srgbClr val="FFD36C">
                <a:alpha val="4500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68246F-1453-464E-B2EB-99E88ABC4B2C}"/>
              </a:ext>
            </a:extLst>
          </p:cNvPr>
          <p:cNvSpPr>
            <a:spLocks noGrp="1"/>
          </p:cNvSpPr>
          <p:nvPr/>
        </p:nvSpPr>
        <p:spPr>
          <a:xfrm>
            <a:off x="1200150" y="3162300"/>
            <a:ext cx="82677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FFD36C"/>
                </a:solidFill>
              </a:defRPr>
            </a:pPr>
            <a:r>
              <a:rPr sz="2325" b="1">
                <a:solidFill>
                  <a:srgbClr val="FFD36C"/>
                </a:solidFill>
              </a:rPr>
              <a:t>更详细地解释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1DD6AA-9D1F-4F1D-9DF1-AC69DE53C75A}"/>
              </a:ext>
            </a:extLst>
          </p:cNvPr>
          <p:cNvSpPr>
            <a:spLocks noGrp="1"/>
          </p:cNvSpPr>
          <p:nvPr/>
        </p:nvSpPr>
        <p:spPr>
          <a:xfrm>
            <a:off x="1200150" y="3657600"/>
            <a:ext cx="8267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FFF2C2"/>
                </a:solidFill>
              </a:defRPr>
            </a:pPr>
            <a:r>
              <a:rPr sz="1800" b="0">
                <a:solidFill>
                  <a:srgbClr val="FFF2C2"/>
                </a:solidFill>
              </a:rPr>
              <a:t>清晰度上升，但成本变高；对方可能把原因听成责备。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8396B12-C780-4DAF-AAE3-4DCEE0545DEF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8843772" cy="1257300"/>
          </a:xfrm>
          <a:prstGeom prst="roundRect">
            <a:avLst>
              <a:gd name="adj" fmla="val 6061"/>
            </a:avLst>
          </a:prstGeom>
          <a:solidFill>
            <a:srgbClr val="462536">
              <a:alpha val="72000"/>
            </a:srgbClr>
          </a:solidFill>
          <a:ln w="19050">
            <a:solidFill>
              <a:srgbClr val="EF8AA8">
                <a:alpha val="5000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CC5B7B-91B7-4367-A1B1-9FCB7887E46F}"/>
              </a:ext>
            </a:extLst>
          </p:cNvPr>
          <p:cNvSpPr>
            <a:spLocks noGrp="1"/>
          </p:cNvSpPr>
          <p:nvPr/>
        </p:nvSpPr>
        <p:spPr>
          <a:xfrm>
            <a:off x="1200150" y="4610100"/>
            <a:ext cx="82677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EF8AA8"/>
                </a:solidFill>
              </a:defRPr>
            </a:pPr>
            <a:r>
              <a:rPr sz="2325" b="1">
                <a:solidFill>
                  <a:srgbClr val="EF8AA8"/>
                </a:solidFill>
              </a:rPr>
              <a:t>更委婉地表达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84539E-5D20-435E-9A8F-F61859A196BA}"/>
              </a:ext>
            </a:extLst>
          </p:cNvPr>
          <p:cNvSpPr>
            <a:spLocks noGrp="1"/>
          </p:cNvSpPr>
          <p:nvPr/>
        </p:nvSpPr>
        <p:spPr>
          <a:xfrm>
            <a:off x="1200150" y="5105400"/>
            <a:ext cx="8267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FFF2C2"/>
                </a:solidFill>
              </a:defRPr>
            </a:pPr>
            <a:r>
              <a:rPr sz="1800" b="0">
                <a:solidFill>
                  <a:srgbClr val="FFF2C2"/>
                </a:solidFill>
              </a:rPr>
              <a:t>冲突感降低，但误解会从新的入口进入。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943A7A9-77FC-4CE8-94A3-4DF2F035231E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8843772" cy="1257300"/>
          </a:xfrm>
          <a:prstGeom prst="roundRect">
            <a:avLst>
              <a:gd name="adj" fmla="val 6061"/>
            </a:avLst>
          </a:prstGeom>
          <a:solidFill>
            <a:srgbClr val="264932">
              <a:alpha val="70000"/>
            </a:srgbClr>
          </a:solidFill>
          <a:ln w="19050">
            <a:solidFill>
              <a:srgbClr val="9FD56F">
                <a:alpha val="5500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0B63DF-68B2-47B3-8A3F-A7C4C6FC8143}"/>
              </a:ext>
            </a:extLst>
          </p:cNvPr>
          <p:cNvSpPr>
            <a:spLocks noGrp="1"/>
          </p:cNvSpPr>
          <p:nvPr/>
        </p:nvSpPr>
        <p:spPr>
          <a:xfrm>
            <a:off x="1200150" y="6057900"/>
            <a:ext cx="82677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9FD56F"/>
                </a:solidFill>
              </a:defRPr>
            </a:pPr>
            <a:r>
              <a:rPr sz="2325" b="1">
                <a:solidFill>
                  <a:srgbClr val="9FD56F"/>
                </a:solidFill>
              </a:rPr>
              <a:t>暂停解释，保护自己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0B3A2D-FDFE-4B88-9A44-F66EF2C4F085}"/>
              </a:ext>
            </a:extLst>
          </p:cNvPr>
          <p:cNvSpPr>
            <a:spLocks noGrp="1"/>
          </p:cNvSpPr>
          <p:nvPr/>
        </p:nvSpPr>
        <p:spPr>
          <a:xfrm>
            <a:off x="1200150" y="6553200"/>
            <a:ext cx="8267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FFF2C2"/>
                </a:solidFill>
              </a:defRPr>
            </a:pPr>
            <a:r>
              <a:rPr sz="1800" b="0">
                <a:solidFill>
                  <a:srgbClr val="FFF2C2"/>
                </a:solidFill>
              </a:rPr>
              <a:t>不立刻修复关系，但停止把自我交给证明。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245C0B-8D74-43A5-A41D-124E691C3444}"/>
              </a:ext>
            </a:extLst>
          </p:cNvPr>
          <p:cNvSpPr>
            <a:spLocks noGrp="1"/>
          </p:cNvSpPr>
          <p:nvPr/>
        </p:nvSpPr>
        <p:spPr>
          <a:xfrm>
            <a:off x="10420350" y="4552950"/>
            <a:ext cx="1143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2C2"/>
                </a:solidFill>
              </a:defRPr>
            </a:pPr>
            <a:r>
              <a:rPr sz="1800" b="1">
                <a:solidFill>
                  <a:srgbClr val="FFF2C2"/>
                </a:solidFill>
              </a:rPr>
              <a:t>表达清晰度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5D84F8-BE3F-4BB4-83EB-7E9D0C59CB56}"/>
              </a:ext>
            </a:extLst>
          </p:cNvPr>
          <p:cNvSpPr>
            <a:spLocks noGrp="1"/>
          </p:cNvSpPr>
          <p:nvPr/>
        </p:nvSpPr>
        <p:spPr>
          <a:xfrm>
            <a:off x="16611600" y="4552950"/>
            <a:ext cx="762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7ECBFF"/>
                </a:solidFill>
              </a:defRPr>
            </a:pPr>
            <a:r>
              <a:rPr sz="1800" b="1">
                <a:solidFill>
                  <a:srgbClr val="7ECBFF"/>
                </a:solidFill>
              </a:rPr>
              <a:t>65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8584695-691C-43A6-B5DD-301B929CCFA8}"/>
              </a:ext>
            </a:extLst>
          </p:cNvPr>
          <p:cNvSpPr>
            <a:spLocks noGrp="1"/>
          </p:cNvSpPr>
          <p:nvPr/>
        </p:nvSpPr>
        <p:spPr>
          <a:xfrm>
            <a:off x="10439400" y="4953000"/>
            <a:ext cx="69342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A994B5C-A846-431C-BBEF-3AB8FE408FB6}"/>
              </a:ext>
            </a:extLst>
          </p:cNvPr>
          <p:cNvSpPr>
            <a:spLocks noGrp="1"/>
          </p:cNvSpPr>
          <p:nvPr/>
        </p:nvSpPr>
        <p:spPr>
          <a:xfrm>
            <a:off x="10439400" y="4953000"/>
            <a:ext cx="3838575" cy="171450"/>
          </a:xfrm>
          <a:prstGeom prst="roundRect">
            <a:avLst>
              <a:gd name="adj" fmla="val 50000"/>
            </a:avLst>
          </a:prstGeom>
          <a:solidFill>
            <a:srgbClr val="7ECBFF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87475F-7729-45FD-B645-F5B8C7D580A9}"/>
              </a:ext>
            </a:extLst>
          </p:cNvPr>
          <p:cNvSpPr>
            <a:spLocks noGrp="1"/>
          </p:cNvSpPr>
          <p:nvPr/>
        </p:nvSpPr>
        <p:spPr>
          <a:xfrm>
            <a:off x="10420350" y="5334000"/>
            <a:ext cx="1143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2C2"/>
                </a:solidFill>
              </a:defRPr>
            </a:pPr>
            <a:r>
              <a:rPr sz="1800" b="1">
                <a:solidFill>
                  <a:srgbClr val="FFF2C2"/>
                </a:solidFill>
              </a:rPr>
              <a:t>对方理解率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7F2D8AA-B440-4894-8F7C-A37A1E2FDF77}"/>
              </a:ext>
            </a:extLst>
          </p:cNvPr>
          <p:cNvSpPr>
            <a:spLocks noGrp="1"/>
          </p:cNvSpPr>
          <p:nvPr/>
        </p:nvSpPr>
        <p:spPr>
          <a:xfrm>
            <a:off x="16611600" y="5334000"/>
            <a:ext cx="762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9FD56F"/>
                </a:solidFill>
              </a:defRPr>
            </a:pPr>
            <a:r>
              <a:rPr sz="1800" b="1">
                <a:solidFill>
                  <a:srgbClr val="9FD56F"/>
                </a:solidFill>
              </a:rPr>
              <a:t>42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8E46F7-4BDA-4913-AAB8-433784D693D4}"/>
              </a:ext>
            </a:extLst>
          </p:cNvPr>
          <p:cNvSpPr>
            <a:spLocks noGrp="1"/>
          </p:cNvSpPr>
          <p:nvPr/>
        </p:nvSpPr>
        <p:spPr>
          <a:xfrm>
            <a:off x="10439400" y="5715000"/>
            <a:ext cx="69342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DDB4D1C-A17F-4CC8-BDC2-8504E62B793D}"/>
              </a:ext>
            </a:extLst>
          </p:cNvPr>
          <p:cNvSpPr>
            <a:spLocks noGrp="1"/>
          </p:cNvSpPr>
          <p:nvPr/>
        </p:nvSpPr>
        <p:spPr>
          <a:xfrm>
            <a:off x="10439400" y="5715000"/>
            <a:ext cx="2476500" cy="171450"/>
          </a:xfrm>
          <a:prstGeom prst="roundRect">
            <a:avLst>
              <a:gd name="adj" fmla="val 50000"/>
            </a:avLst>
          </a:prstGeom>
          <a:solidFill>
            <a:srgbClr val="9FD56F"/>
          </a:solidFill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DCBEB0B-528F-48FF-9A63-E401428C0D21}"/>
              </a:ext>
            </a:extLst>
          </p:cNvPr>
          <p:cNvSpPr>
            <a:spLocks noGrp="1"/>
          </p:cNvSpPr>
          <p:nvPr/>
        </p:nvSpPr>
        <p:spPr>
          <a:xfrm>
            <a:off x="10420350" y="6096000"/>
            <a:ext cx="91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2C2"/>
                </a:solidFill>
              </a:defRPr>
            </a:pPr>
            <a:r>
              <a:rPr sz="1800" b="1">
                <a:solidFill>
                  <a:srgbClr val="FFF2C2"/>
                </a:solidFill>
              </a:rPr>
              <a:t>解释成本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053F344-7708-476C-BBB5-3D72C5DB95B3}"/>
              </a:ext>
            </a:extLst>
          </p:cNvPr>
          <p:cNvSpPr>
            <a:spLocks noGrp="1"/>
          </p:cNvSpPr>
          <p:nvPr/>
        </p:nvSpPr>
        <p:spPr>
          <a:xfrm>
            <a:off x="16611600" y="6096000"/>
            <a:ext cx="762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38B70"/>
                </a:solidFill>
              </a:defRPr>
            </a:pPr>
            <a:r>
              <a:rPr sz="1800" b="1">
                <a:solidFill>
                  <a:srgbClr val="F38B70"/>
                </a:solidFill>
              </a:rPr>
              <a:t>80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08448DF-497C-46A7-B307-347C7D0CE6F4}"/>
              </a:ext>
            </a:extLst>
          </p:cNvPr>
          <p:cNvSpPr>
            <a:spLocks noGrp="1"/>
          </p:cNvSpPr>
          <p:nvPr/>
        </p:nvSpPr>
        <p:spPr>
          <a:xfrm>
            <a:off x="10439400" y="6477000"/>
            <a:ext cx="69342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1F6FA6-63B8-43EF-ADC4-A98D37B5A2E1}"/>
              </a:ext>
            </a:extLst>
          </p:cNvPr>
          <p:cNvSpPr>
            <a:spLocks noGrp="1"/>
          </p:cNvSpPr>
          <p:nvPr/>
        </p:nvSpPr>
        <p:spPr>
          <a:xfrm>
            <a:off x="10439400" y="6477000"/>
            <a:ext cx="4724400" cy="171450"/>
          </a:xfrm>
          <a:prstGeom prst="roundRect">
            <a:avLst>
              <a:gd name="adj" fmla="val 50000"/>
            </a:avLst>
          </a:prstGeom>
          <a:solidFill>
            <a:srgbClr val="F38B70"/>
          </a:solidFill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309013-DB4E-4D02-8659-EBD9BF85595F}"/>
              </a:ext>
            </a:extLst>
          </p:cNvPr>
          <p:cNvSpPr>
            <a:spLocks noGrp="1"/>
          </p:cNvSpPr>
          <p:nvPr/>
        </p:nvSpPr>
        <p:spPr>
          <a:xfrm>
            <a:off x="10420350" y="6858000"/>
            <a:ext cx="1143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2C2"/>
                </a:solidFill>
              </a:defRPr>
            </a:pPr>
            <a:r>
              <a:rPr sz="1800" b="1">
                <a:solidFill>
                  <a:srgbClr val="FFF2C2"/>
                </a:solidFill>
              </a:rPr>
              <a:t>自我保留度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F545E99-E060-4351-97BF-963299DC1B58}"/>
              </a:ext>
            </a:extLst>
          </p:cNvPr>
          <p:cNvSpPr>
            <a:spLocks noGrp="1"/>
          </p:cNvSpPr>
          <p:nvPr/>
        </p:nvSpPr>
        <p:spPr>
          <a:xfrm>
            <a:off x="16611600" y="6858000"/>
            <a:ext cx="762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D36C"/>
                </a:solidFill>
              </a:defRPr>
            </a:pPr>
            <a:r>
              <a:rPr sz="1800" b="1">
                <a:solidFill>
                  <a:srgbClr val="FFD36C"/>
                </a:solidFill>
              </a:rPr>
              <a:t>38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B1CCFE2-FF1C-494F-97F6-23A4C6C3ED31}"/>
              </a:ext>
            </a:extLst>
          </p:cNvPr>
          <p:cNvSpPr>
            <a:spLocks noGrp="1"/>
          </p:cNvSpPr>
          <p:nvPr/>
        </p:nvSpPr>
        <p:spPr>
          <a:xfrm>
            <a:off x="10439400" y="7239000"/>
            <a:ext cx="69342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3080ED8-FD2F-458A-9D54-372DC4144201}"/>
              </a:ext>
            </a:extLst>
          </p:cNvPr>
          <p:cNvSpPr>
            <a:spLocks noGrp="1"/>
          </p:cNvSpPr>
          <p:nvPr/>
        </p:nvSpPr>
        <p:spPr>
          <a:xfrm>
            <a:off x="10439400" y="7239000"/>
            <a:ext cx="2247900" cy="171450"/>
          </a:xfrm>
          <a:prstGeom prst="roundRect">
            <a:avLst>
              <a:gd name="adj" fmla="val 50000"/>
            </a:avLst>
          </a:prstGeom>
          <a:solidFill>
            <a:srgbClr val="FFD36C"/>
          </a:solidFill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1C91A58-BDFA-4697-B59D-4653EE06FCED}"/>
              </a:ext>
            </a:extLst>
          </p:cNvPr>
          <p:cNvSpPr>
            <a:spLocks noGrp="1"/>
          </p:cNvSpPr>
          <p:nvPr/>
        </p:nvSpPr>
        <p:spPr>
          <a:xfrm>
            <a:off x="10420350" y="7620000"/>
            <a:ext cx="69532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FFECBC">
                    <a:alpha val="92000"/>
                  </a:srgbClr>
                </a:solidFill>
              </a:defRPr>
            </a:pPr>
            <a:r>
              <a:rPr sz="1950" b="1">
                <a:solidFill>
                  <a:srgbClr val="FFECBC">
                    <a:alpha val="92000"/>
                  </a:srgbClr>
                </a:solidFill>
              </a:rPr>
              <a:t>结局由这些指标共同决定：无限解释、沉默系统、边界重构。</a:t>
            </a:r>
          </a:p>
        </p:txBody>
      </p:sp>
    </p:spTree>
    <p:extLst>
      <p:ext uri="{BB962C8B-B14F-4D97-AF65-F5344CB8AC3E}">
        <p14:creationId xmlns:p14="http://schemas.microsoft.com/office/powerpoint/2010/main" val="771141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g-start.png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bg-scrim">
            <a:extLst>
              <a:ext uri="{FF2B5EF4-FFF2-40B4-BE49-F238E27FC236}">
                <a16:creationId xmlns:a16="http://schemas.microsoft.com/office/drawing/2014/main" id="{8DFA8DEC-708D-427D-9D17-5BF8BF214D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80F10">
              <a:alpha val="76000"/>
            </a:srgbClr>
          </a:solidFill>
        </p:spPr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D1CE3EC2-AA66-4508-9EC0-E25A7CE099A9}"/>
              </a:ext>
            </a:extLst>
          </p:cNvPr>
          <p:cNvSpPr>
            <a:spLocks noGrp="1"/>
          </p:cNvSpPr>
          <p:nvPr/>
        </p:nvSpPr>
        <p:spPr>
          <a:xfrm>
            <a:off x="1066800" y="78105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05 / ART FORM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54696125-4F9B-4D5C-84B0-C165A1F10EF6}"/>
              </a:ext>
            </a:extLst>
          </p:cNvPr>
          <p:cNvSpPr>
            <a:spLocks noGrp="1"/>
          </p:cNvSpPr>
          <p:nvPr/>
        </p:nvSpPr>
        <p:spPr>
          <a:xfrm>
            <a:off x="1066800" y="1257300"/>
            <a:ext cx="161544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艺术形式：轻量网页游戏，把浏览器变成舞台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E1818C-7CDE-40DD-A315-E4CC53D59204}"/>
              </a:ext>
            </a:extLst>
          </p:cNvPr>
          <p:cNvSpPr>
            <a:spLocks noGrp="1"/>
          </p:cNvSpPr>
          <p:nvPr/>
        </p:nvSpPr>
        <p:spPr>
          <a:xfrm>
            <a:off x="1066800" y="2286000"/>
            <a:ext cx="9525" cy="9525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F59E53-C025-4EFE-B87F-1153205BE4C9}"/>
              </a:ext>
            </a:extLst>
          </p:cNvPr>
          <p:cNvSpPr>
            <a:spLocks noGrp="1"/>
          </p:cNvSpPr>
          <p:nvPr/>
        </p:nvSpPr>
        <p:spPr>
          <a:xfrm>
            <a:off x="1066800" y="4324350"/>
            <a:ext cx="8362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D36C"/>
                </a:solidFill>
              </a:defRPr>
            </a:pPr>
            <a:r>
              <a:rPr sz="4350" b="1">
                <a:solidFill>
                  <a:srgbClr val="FFD36C"/>
                </a:solidFill>
              </a:rPr>
              <a:t>原生 HTML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1CD4D3-BDB9-4E29-B95A-E6590803FF12}"/>
              </a:ext>
            </a:extLst>
          </p:cNvPr>
          <p:cNvSpPr>
            <a:spLocks noGrp="1"/>
          </p:cNvSpPr>
          <p:nvPr/>
        </p:nvSpPr>
        <p:spPr>
          <a:xfrm>
            <a:off x="1066800" y="5295900"/>
            <a:ext cx="8362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9FD56F"/>
                </a:solidFill>
              </a:defRPr>
            </a:pPr>
            <a:r>
              <a:rPr sz="4350" b="1">
                <a:solidFill>
                  <a:srgbClr val="9FD56F"/>
                </a:solidFill>
              </a:rPr>
              <a:t>+ CSS 响应式画布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0D3126-8ADE-40A6-802C-BA19759CD0CF}"/>
              </a:ext>
            </a:extLst>
          </p:cNvPr>
          <p:cNvSpPr>
            <a:spLocks noGrp="1"/>
          </p:cNvSpPr>
          <p:nvPr/>
        </p:nvSpPr>
        <p:spPr>
          <a:xfrm>
            <a:off x="1066800" y="6286500"/>
            <a:ext cx="8362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EF8AA8"/>
                </a:solidFill>
              </a:defRPr>
            </a:pPr>
            <a:r>
              <a:rPr sz="4350" b="1">
                <a:solidFill>
                  <a:srgbClr val="EF8AA8"/>
                </a:solidFill>
              </a:rPr>
              <a:t>+ JavaScript 状态机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EAB58E-9264-475E-B797-44F68069B8DC}"/>
              </a:ext>
            </a:extLst>
          </p:cNvPr>
          <p:cNvSpPr>
            <a:spLocks noGrp="1"/>
          </p:cNvSpPr>
          <p:nvPr/>
        </p:nvSpPr>
        <p:spPr>
          <a:xfrm>
            <a:off x="1066800" y="7277100"/>
            <a:ext cx="83629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7ECBFF"/>
                </a:solidFill>
              </a:defRPr>
            </a:pPr>
            <a:r>
              <a:rPr sz="4350" b="1">
                <a:solidFill>
                  <a:srgbClr val="7ECBFF"/>
                </a:solidFill>
              </a:rPr>
              <a:t>+ Canvas 2D 绘制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5B581F7-28A6-494C-97B5-382FD5FC56F2}"/>
              </a:ext>
            </a:extLst>
          </p:cNvPr>
          <p:cNvSpPr>
            <a:spLocks noGrp="1"/>
          </p:cNvSpPr>
          <p:nvPr/>
        </p:nvSpPr>
        <p:spPr>
          <a:xfrm>
            <a:off x="10096881" y="2752725"/>
            <a:ext cx="7124319" cy="6753225"/>
          </a:xfrm>
          <a:prstGeom prst="roundRect">
            <a:avLst>
              <a:gd name="adj" fmla="val 1410"/>
            </a:avLst>
          </a:prstGeom>
          <a:solidFill>
            <a:srgbClr val="FFE0A3">
              <a:alpha val="10000"/>
            </a:srgbClr>
          </a:solidFill>
          <a:ln w="19050">
            <a:solidFill>
              <a:srgbClr val="FFD36C">
                <a:alpha val="3800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2AD065-70BC-4A50-B726-B4269A043CD4}"/>
              </a:ext>
            </a:extLst>
          </p:cNvPr>
          <p:cNvSpPr>
            <a:spLocks noGrp="1"/>
          </p:cNvSpPr>
          <p:nvPr/>
        </p:nvSpPr>
        <p:spPr>
          <a:xfrm>
            <a:off x="10477500" y="5200650"/>
            <a:ext cx="63627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FFF2C2"/>
                </a:solidFill>
              </a:defRPr>
            </a:pPr>
            <a:r>
              <a:rPr sz="2700" b="1">
                <a:solidFill>
                  <a:srgbClr val="FFF2C2"/>
                </a:solidFill>
              </a:rPr>
              <a:t>形式服务主题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07B73C-3797-4B2D-8E17-5A219AA2BAAE}"/>
              </a:ext>
            </a:extLst>
          </p:cNvPr>
          <p:cNvSpPr>
            <a:spLocks noGrp="1"/>
          </p:cNvSpPr>
          <p:nvPr/>
        </p:nvSpPr>
        <p:spPr>
          <a:xfrm>
            <a:off x="10477500" y="5829300"/>
            <a:ext cx="63627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FFE8BB">
                    <a:alpha val="90000"/>
                  </a:srgbClr>
                </a:solidFill>
              </a:defRPr>
            </a:pPr>
            <a:r>
              <a:rPr sz="2175" b="0">
                <a:solidFill>
                  <a:srgbClr val="FFE8BB">
                    <a:alpha val="90000"/>
                  </a:srgbClr>
                </a:solidFill>
              </a:rPr>
              <a:t>没有复杂操作、没有战斗系统，只有点击选择和数值反馈。玩家被迫关注语言本身的偏移。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35696B-7041-475E-852F-43364199BFA9}"/>
              </a:ext>
            </a:extLst>
          </p:cNvPr>
          <p:cNvSpPr>
            <a:spLocks noGrp="1"/>
          </p:cNvSpPr>
          <p:nvPr/>
        </p:nvSpPr>
        <p:spPr>
          <a:xfrm>
            <a:off x="10477500" y="6724650"/>
            <a:ext cx="6362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0">
                <a:solidFill>
                  <a:srgbClr val="FFE8BB">
                    <a:alpha val="90000"/>
                  </a:srgbClr>
                </a:solidFill>
              </a:defRPr>
            </a:pPr>
            <a:r>
              <a:rPr sz="2175" b="0">
                <a:solidFill>
                  <a:srgbClr val="FFE8BB">
                    <a:alpha val="90000"/>
                  </a:srgbClr>
                </a:solidFill>
              </a:rPr>
              <a:t>轻量网页也方便部署、分享和课堂/展览现场演示。</a:t>
            </a:r>
          </a:p>
        </p:txBody>
      </p:sp>
    </p:spTree>
    <p:extLst>
      <p:ext uri="{BB962C8B-B14F-4D97-AF65-F5344CB8AC3E}">
        <p14:creationId xmlns:p14="http://schemas.microsoft.com/office/powerpoint/2010/main" val="1794352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A854C31B-0F22-48C2-A0C8-4E1DD85738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4171D"/>
          </a:solidFill>
        </p:spPr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DEBC3A96-9E71-4D12-B0F8-998F5E0B42C3}"/>
              </a:ext>
            </a:extLst>
          </p:cNvPr>
          <p:cNvSpPr>
            <a:spLocks noGrp="1"/>
          </p:cNvSpPr>
          <p:nvPr/>
        </p:nvSpPr>
        <p:spPr>
          <a:xfrm>
            <a:off x="914400" y="685800"/>
            <a:ext cx="16459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06 / VISUAL STYLE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57A3A5B8-CDC8-4212-9C96-81E41214BACD}"/>
              </a:ext>
            </a:extLst>
          </p:cNvPr>
          <p:cNvSpPr>
            <a:spLocks noGrp="1"/>
          </p:cNvSpPr>
          <p:nvPr/>
        </p:nvSpPr>
        <p:spPr>
          <a:xfrm>
            <a:off x="914400" y="1162050"/>
            <a:ext cx="164592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画风：像素化生活场景 + 复古对话 UI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9E911384-8967-4EC5-AF13-67226714FAB2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11239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FFE5B1">
                    <a:alpha val="88000"/>
                  </a:srgbClr>
                </a:solidFill>
              </a:defRPr>
            </a:pPr>
            <a:r>
              <a:rPr sz="2250" b="0">
                <a:solidFill>
                  <a:srgbClr val="FFE5B1">
                    <a:alpha val="88000"/>
                  </a:srgbClr>
                </a:solidFill>
              </a:rPr>
              <a:t>画面不是为了写实，而是把日常经验压缩成可识别的情绪空间。</a:t>
            </a:r>
          </a:p>
        </p:txBody>
      </p:sp>
      <p:sp>
        <p:nvSpPr>
          <p:cNvPr id="5" name="thumb-暖色白天：秩序与行动">
            <a:extLst>
              <a:ext uri="{FF2B5EF4-FFF2-40B4-BE49-F238E27FC236}">
                <a16:creationId xmlns:a16="http://schemas.microsoft.com/office/drawing/2014/main" id="{8092A0C6-EB32-474D-B262-A3F30149C05F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6472321" cy="4953000"/>
          </a:xfrm>
          <a:prstGeom prst="roundRect">
            <a:avLst>
              <a:gd name="adj" fmla="val 1923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l="13228" r="13228"/>
          <a:stretch>
            <a:fillRect/>
          </a:stretch>
        </p:blipFill>
        <p:spPr>
          <a:xfrm>
            <a:off x="914400" y="2857500"/>
            <a:ext cx="6472321" cy="4953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38FC754-A524-44BF-9A9D-38E3DC9CE788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6472321" cy="4953000"/>
          </a:xfrm>
          <a:prstGeom prst="rect">
            <a:avLst/>
          </a:prstGeom>
          <a:solidFill>
            <a:srgbClr val="140E0F">
              <a:alpha val="34000"/>
            </a:srgbClr>
          </a:solidFill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6C7CB8-B7C8-40DC-A817-2A2D3C998911}"/>
              </a:ext>
            </a:extLst>
          </p:cNvPr>
          <p:cNvSpPr>
            <a:spLocks noGrp="1"/>
          </p:cNvSpPr>
          <p:nvPr/>
        </p:nvSpPr>
        <p:spPr>
          <a:xfrm>
            <a:off x="1085850" y="7410450"/>
            <a:ext cx="6134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9FD56F"/>
                </a:solidFill>
              </a:defRPr>
            </a:pPr>
            <a:r>
              <a:rPr sz="1575" b="1">
                <a:solidFill>
                  <a:srgbClr val="9FD56F"/>
                </a:solidFill>
              </a:rPr>
              <a:t>暖色白天：秩序与行动</a:t>
            </a:r>
          </a:p>
        </p:txBody>
      </p:sp>
      <p:sp>
        <p:nvSpPr>
          <p:cNvPr id="9" name="thumb-冷紫夜晚：不安与防御">
            <a:extLst>
              <a:ext uri="{FF2B5EF4-FFF2-40B4-BE49-F238E27FC236}">
                <a16:creationId xmlns:a16="http://schemas.microsoft.com/office/drawing/2014/main" id="{370ECAF3-FD00-47B8-9628-4418335D9733}"/>
              </a:ext>
            </a:extLst>
          </p:cNvPr>
          <p:cNvSpPr>
            <a:spLocks noGrp="1"/>
          </p:cNvSpPr>
          <p:nvPr/>
        </p:nvSpPr>
        <p:spPr>
          <a:xfrm>
            <a:off x="7596271" y="2857500"/>
            <a:ext cx="4783889" cy="4953000"/>
          </a:xfrm>
          <a:prstGeom prst="roundRect">
            <a:avLst>
              <a:gd name="adj" fmla="val 1991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l="22821" r="22821"/>
          <a:stretch>
            <a:fillRect/>
          </a:stretch>
        </p:blipFill>
        <p:spPr>
          <a:xfrm>
            <a:off x="7596271" y="2857500"/>
            <a:ext cx="4783889" cy="4953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D3262D9-14C3-4250-8BD2-D9EB933C55B9}"/>
              </a:ext>
            </a:extLst>
          </p:cNvPr>
          <p:cNvSpPr>
            <a:spLocks noGrp="1"/>
          </p:cNvSpPr>
          <p:nvPr/>
        </p:nvSpPr>
        <p:spPr>
          <a:xfrm>
            <a:off x="7596271" y="2857500"/>
            <a:ext cx="4783889" cy="4953000"/>
          </a:xfrm>
          <a:prstGeom prst="rect">
            <a:avLst/>
          </a:prstGeom>
          <a:solidFill>
            <a:srgbClr val="140E0F">
              <a:alpha val="34000"/>
            </a:srgbClr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A80648-96C2-473F-9740-0115FCC02417}"/>
              </a:ext>
            </a:extLst>
          </p:cNvPr>
          <p:cNvSpPr>
            <a:spLocks noGrp="1"/>
          </p:cNvSpPr>
          <p:nvPr/>
        </p:nvSpPr>
        <p:spPr>
          <a:xfrm>
            <a:off x="7772400" y="7410450"/>
            <a:ext cx="4438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EF8AA8"/>
                </a:solidFill>
              </a:defRPr>
            </a:pPr>
            <a:r>
              <a:rPr sz="1575" b="1">
                <a:solidFill>
                  <a:srgbClr val="EF8AA8"/>
                </a:solidFill>
              </a:rPr>
              <a:t>冷紫夜晚：不安与防御</a:t>
            </a:r>
          </a:p>
        </p:txBody>
      </p:sp>
      <p:sp>
        <p:nvSpPr>
          <p:cNvPr id="13" name="thumb-结局空间：余波与停顿">
            <a:extLst>
              <a:ext uri="{FF2B5EF4-FFF2-40B4-BE49-F238E27FC236}">
                <a16:creationId xmlns:a16="http://schemas.microsoft.com/office/drawing/2014/main" id="{EC4B6974-201E-4C4C-B483-B394C1E1B215}"/>
              </a:ext>
            </a:extLst>
          </p:cNvPr>
          <p:cNvSpPr>
            <a:spLocks noGrp="1"/>
          </p:cNvSpPr>
          <p:nvPr/>
        </p:nvSpPr>
        <p:spPr>
          <a:xfrm>
            <a:off x="12589711" y="2857500"/>
            <a:ext cx="4783889" cy="4953000"/>
          </a:xfrm>
          <a:prstGeom prst="roundRect">
            <a:avLst>
              <a:gd name="adj" fmla="val 1991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DE9A">
                <a:alpha val="34000"/>
              </a:srgbClr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rcRect l="22821" r="22821"/>
          <a:stretch>
            <a:fillRect/>
          </a:stretch>
        </p:blipFill>
        <p:spPr>
          <a:xfrm>
            <a:off x="12589711" y="2857500"/>
            <a:ext cx="4783889" cy="49530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CF984FD-F84C-4EAF-8604-47556CF28838}"/>
              </a:ext>
            </a:extLst>
          </p:cNvPr>
          <p:cNvSpPr>
            <a:spLocks noGrp="1"/>
          </p:cNvSpPr>
          <p:nvPr/>
        </p:nvSpPr>
        <p:spPr>
          <a:xfrm>
            <a:off x="12589711" y="2857500"/>
            <a:ext cx="4783889" cy="4953000"/>
          </a:xfrm>
          <a:prstGeom prst="rect">
            <a:avLst/>
          </a:prstGeom>
          <a:solidFill>
            <a:srgbClr val="140E0F">
              <a:alpha val="34000"/>
            </a:srgbClr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5E7318-C1EC-4697-B751-AA95EE48488F}"/>
              </a:ext>
            </a:extLst>
          </p:cNvPr>
          <p:cNvSpPr>
            <a:spLocks noGrp="1"/>
          </p:cNvSpPr>
          <p:nvPr/>
        </p:nvSpPr>
        <p:spPr>
          <a:xfrm>
            <a:off x="12763500" y="7410450"/>
            <a:ext cx="44386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FFD36C"/>
                </a:solidFill>
              </a:defRPr>
            </a:pPr>
            <a:r>
              <a:rPr sz="1575" b="1">
                <a:solidFill>
                  <a:srgbClr val="FFD36C"/>
                </a:solidFill>
              </a:rPr>
              <a:t>结局空间：余波与停顿</a:t>
            </a:r>
          </a:p>
        </p:txBody>
      </p:sp>
      <p:sp>
        <p:nvSpPr>
          <p:cNvPr id="17" name="chip-像素颗粒">
            <a:extLst>
              <a:ext uri="{FF2B5EF4-FFF2-40B4-BE49-F238E27FC236}">
                <a16:creationId xmlns:a16="http://schemas.microsoft.com/office/drawing/2014/main" id="{B0D3012D-40EA-465B-B2FC-EA290E5E93E2}"/>
              </a:ext>
            </a:extLst>
          </p:cNvPr>
          <p:cNvSpPr>
            <a:spLocks noGrp="1"/>
          </p:cNvSpPr>
          <p:nvPr/>
        </p:nvSpPr>
        <p:spPr>
          <a:xfrm>
            <a:off x="914400" y="8229600"/>
            <a:ext cx="1066800" cy="419100"/>
          </a:xfrm>
          <a:prstGeom prst="roundRect">
            <a:avLst>
              <a:gd name="adj" fmla="val 13636"/>
            </a:avLst>
          </a:prstGeom>
          <a:solidFill>
            <a:srgbClr val="301C12">
              <a:alpha val="76000"/>
            </a:srgbClr>
          </a:solidFill>
          <a:ln w="19050">
            <a:solidFill>
              <a:srgbClr val="FFD36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593C1A-8683-4613-82C6-E0C3E2BF28AE}"/>
              </a:ext>
            </a:extLst>
          </p:cNvPr>
          <p:cNvSpPr>
            <a:spLocks noGrp="1"/>
          </p:cNvSpPr>
          <p:nvPr/>
        </p:nvSpPr>
        <p:spPr>
          <a:xfrm>
            <a:off x="1085850" y="8324850"/>
            <a:ext cx="72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D36C"/>
                </a:solidFill>
              </a:defRPr>
            </a:pPr>
            <a:r>
              <a:rPr sz="1425" b="1">
                <a:solidFill>
                  <a:srgbClr val="FFD36C"/>
                </a:solidFill>
              </a:rPr>
              <a:t>像素颗粒</a:t>
            </a:r>
          </a:p>
        </p:txBody>
      </p:sp>
      <p:sp>
        <p:nvSpPr>
          <p:cNvPr id="19" name="chip-低饱和背景">
            <a:extLst>
              <a:ext uri="{FF2B5EF4-FFF2-40B4-BE49-F238E27FC236}">
                <a16:creationId xmlns:a16="http://schemas.microsoft.com/office/drawing/2014/main" id="{F3037F11-B6E0-4F2D-B58D-860E7F052500}"/>
              </a:ext>
            </a:extLst>
          </p:cNvPr>
          <p:cNvSpPr>
            <a:spLocks noGrp="1"/>
          </p:cNvSpPr>
          <p:nvPr/>
        </p:nvSpPr>
        <p:spPr>
          <a:xfrm>
            <a:off x="2152650" y="8229600"/>
            <a:ext cx="1247775" cy="419100"/>
          </a:xfrm>
          <a:prstGeom prst="roundRect">
            <a:avLst>
              <a:gd name="adj" fmla="val 13636"/>
            </a:avLst>
          </a:prstGeom>
          <a:solidFill>
            <a:srgbClr val="301C12">
              <a:alpha val="76000"/>
            </a:srgbClr>
          </a:solidFill>
          <a:ln w="19050">
            <a:solidFill>
              <a:srgbClr val="F0CB89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10DEAEB-1B28-42ED-86C6-3ACE16A1D3C9}"/>
              </a:ext>
            </a:extLst>
          </p:cNvPr>
          <p:cNvSpPr>
            <a:spLocks noGrp="1"/>
          </p:cNvSpPr>
          <p:nvPr/>
        </p:nvSpPr>
        <p:spPr>
          <a:xfrm>
            <a:off x="2324100" y="8324850"/>
            <a:ext cx="914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0CB89"/>
                </a:solidFill>
              </a:defRPr>
            </a:pPr>
            <a:r>
              <a:rPr sz="1425" b="1">
                <a:solidFill>
                  <a:srgbClr val="F0CB89"/>
                </a:solidFill>
              </a:rPr>
              <a:t>低饱和背景</a:t>
            </a:r>
          </a:p>
        </p:txBody>
      </p:sp>
      <p:sp>
        <p:nvSpPr>
          <p:cNvPr id="21" name="chip-高对比 UI">
            <a:extLst>
              <a:ext uri="{FF2B5EF4-FFF2-40B4-BE49-F238E27FC236}">
                <a16:creationId xmlns:a16="http://schemas.microsoft.com/office/drawing/2014/main" id="{82A89A70-F493-40D4-AA56-0E6DA0116EB4}"/>
              </a:ext>
            </a:extLst>
          </p:cNvPr>
          <p:cNvSpPr>
            <a:spLocks noGrp="1"/>
          </p:cNvSpPr>
          <p:nvPr/>
        </p:nvSpPr>
        <p:spPr>
          <a:xfrm>
            <a:off x="3571875" y="8134350"/>
            <a:ext cx="1093184" cy="609600"/>
          </a:xfrm>
          <a:prstGeom prst="roundRect">
            <a:avLst>
              <a:gd name="adj" fmla="val 9375"/>
            </a:avLst>
          </a:prstGeom>
          <a:solidFill>
            <a:srgbClr val="301C12">
              <a:alpha val="76000"/>
            </a:srgbClr>
          </a:solidFill>
          <a:ln w="19050">
            <a:solidFill>
              <a:srgbClr val="FFF2C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B66191-A38C-41BE-8938-08B9CAB3D122}"/>
              </a:ext>
            </a:extLst>
          </p:cNvPr>
          <p:cNvSpPr>
            <a:spLocks noGrp="1"/>
          </p:cNvSpPr>
          <p:nvPr/>
        </p:nvSpPr>
        <p:spPr>
          <a:xfrm>
            <a:off x="3752850" y="8229600"/>
            <a:ext cx="7429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2C2"/>
                </a:solidFill>
              </a:defRPr>
            </a:pPr>
            <a:r>
              <a:rPr sz="1425" b="1">
                <a:solidFill>
                  <a:srgbClr val="FFF2C2"/>
                </a:solidFill>
              </a:rPr>
              <a:t>高对比 UI</a:t>
            </a:r>
          </a:p>
        </p:txBody>
      </p:sp>
      <p:sp>
        <p:nvSpPr>
          <p:cNvPr id="23" name="chip-人物头像符号化">
            <a:extLst>
              <a:ext uri="{FF2B5EF4-FFF2-40B4-BE49-F238E27FC236}">
                <a16:creationId xmlns:a16="http://schemas.microsoft.com/office/drawing/2014/main" id="{34618592-C070-4BD4-8079-CD732E847937}"/>
              </a:ext>
            </a:extLst>
          </p:cNvPr>
          <p:cNvSpPr>
            <a:spLocks noGrp="1"/>
          </p:cNvSpPr>
          <p:nvPr/>
        </p:nvSpPr>
        <p:spPr>
          <a:xfrm>
            <a:off x="4836509" y="8229600"/>
            <a:ext cx="1609725" cy="419100"/>
          </a:xfrm>
          <a:prstGeom prst="roundRect">
            <a:avLst>
              <a:gd name="adj" fmla="val 13636"/>
            </a:avLst>
          </a:prstGeom>
          <a:solidFill>
            <a:srgbClr val="301C12">
              <a:alpha val="76000"/>
            </a:srgbClr>
          </a:solidFill>
          <a:ln w="19050">
            <a:solidFill>
              <a:srgbClr val="EF8AA8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AC72228-97CF-4FDE-A8A3-5512F8908433}"/>
              </a:ext>
            </a:extLst>
          </p:cNvPr>
          <p:cNvSpPr>
            <a:spLocks noGrp="1"/>
          </p:cNvSpPr>
          <p:nvPr/>
        </p:nvSpPr>
        <p:spPr>
          <a:xfrm>
            <a:off x="5010150" y="8324850"/>
            <a:ext cx="127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EF8AA8"/>
                </a:solidFill>
              </a:defRPr>
            </a:pPr>
            <a:r>
              <a:rPr sz="1425" b="1">
                <a:solidFill>
                  <a:srgbClr val="EF8AA8"/>
                </a:solidFill>
              </a:rPr>
              <a:t>人物头像符号化</a:t>
            </a:r>
          </a:p>
        </p:txBody>
      </p:sp>
      <p:sp>
        <p:nvSpPr>
          <p:cNvPr id="25" name="chip-扫描线与抖动感">
            <a:extLst>
              <a:ext uri="{FF2B5EF4-FFF2-40B4-BE49-F238E27FC236}">
                <a16:creationId xmlns:a16="http://schemas.microsoft.com/office/drawing/2014/main" id="{F61BB5B9-C049-4905-BCB3-19E200ADE148}"/>
              </a:ext>
            </a:extLst>
          </p:cNvPr>
          <p:cNvSpPr>
            <a:spLocks noGrp="1"/>
          </p:cNvSpPr>
          <p:nvPr/>
        </p:nvSpPr>
        <p:spPr>
          <a:xfrm>
            <a:off x="6617684" y="8229600"/>
            <a:ext cx="1609725" cy="419100"/>
          </a:xfrm>
          <a:prstGeom prst="roundRect">
            <a:avLst>
              <a:gd name="adj" fmla="val 13636"/>
            </a:avLst>
          </a:prstGeom>
          <a:solidFill>
            <a:srgbClr val="301C12">
              <a:alpha val="76000"/>
            </a:srgbClr>
          </a:solidFill>
          <a:ln w="19050">
            <a:solidFill>
              <a:srgbClr val="7ECBF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D2FFFE6-2ACC-401E-85E7-99710F78B8EF}"/>
              </a:ext>
            </a:extLst>
          </p:cNvPr>
          <p:cNvSpPr>
            <a:spLocks noGrp="1"/>
          </p:cNvSpPr>
          <p:nvPr/>
        </p:nvSpPr>
        <p:spPr>
          <a:xfrm>
            <a:off x="6781800" y="8324850"/>
            <a:ext cx="127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7ECBFF"/>
                </a:solidFill>
              </a:defRPr>
            </a:pPr>
            <a:r>
              <a:rPr sz="1425" b="1">
                <a:solidFill>
                  <a:srgbClr val="7ECBFF"/>
                </a:solidFill>
              </a:rPr>
              <a:t>扫描线与抖动感</a:t>
            </a:r>
          </a:p>
        </p:txBody>
      </p:sp>
    </p:spTree>
    <p:extLst>
      <p:ext uri="{BB962C8B-B14F-4D97-AF65-F5344CB8AC3E}">
        <p14:creationId xmlns:p14="http://schemas.microsoft.com/office/powerpoint/2010/main" val="855178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bg-night1-family.png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bg-scrim">
            <a:extLst>
              <a:ext uri="{FF2B5EF4-FFF2-40B4-BE49-F238E27FC236}">
                <a16:creationId xmlns:a16="http://schemas.microsoft.com/office/drawing/2014/main" id="{C15550FC-67F9-4336-9A4E-6BFDCAD66D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0C19">
              <a:alpha val="76000"/>
            </a:srgbClr>
          </a:solidFill>
        </p:spPr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17B1A988-4BE6-4CA7-9B51-6B90A17C79A8}"/>
              </a:ext>
            </a:extLst>
          </p:cNvPr>
          <p:cNvSpPr>
            <a:spLocks noGrp="1"/>
          </p:cNvSpPr>
          <p:nvPr/>
        </p:nvSpPr>
        <p:spPr>
          <a:xfrm>
            <a:off x="1066800" y="80010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07 / AUDIO &amp; RHYTHM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D7AC4917-99E1-46C6-B921-44344E0FBE78}"/>
              </a:ext>
            </a:extLst>
          </p:cNvPr>
          <p:cNvSpPr>
            <a:spLocks noGrp="1"/>
          </p:cNvSpPr>
          <p:nvPr/>
        </p:nvSpPr>
        <p:spPr>
          <a:xfrm>
            <a:off x="1066800" y="1276350"/>
            <a:ext cx="161544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声音与节奏：让玩家在昼夜之间换气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E9D676-4E10-49CF-BDB7-E823EC60D199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9525" cy="9525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71BB57-9A68-40F4-B338-31620DA4EC04}"/>
              </a:ext>
            </a:extLst>
          </p:cNvPr>
          <p:cNvSpPr>
            <a:spLocks noGrp="1"/>
          </p:cNvSpPr>
          <p:nvPr/>
        </p:nvSpPr>
        <p:spPr>
          <a:xfrm>
            <a:off x="1066800" y="4667250"/>
            <a:ext cx="76962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FFD36C"/>
                </a:solidFill>
              </a:defRPr>
            </a:pPr>
            <a:r>
              <a:rPr sz="3900" b="1">
                <a:solidFill>
                  <a:srgbClr val="FFD36C"/>
                </a:solidFill>
              </a:rPr>
              <a:t>三段 BGM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1BB3A0-C551-45BC-B0C1-CD8EB9633075}"/>
              </a:ext>
            </a:extLst>
          </p:cNvPr>
          <p:cNvSpPr>
            <a:spLocks noGrp="1"/>
          </p:cNvSpPr>
          <p:nvPr/>
        </p:nvSpPr>
        <p:spPr>
          <a:xfrm>
            <a:off x="1066800" y="5524500"/>
            <a:ext cx="769620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FFF2C2"/>
                </a:solidFill>
              </a:defRPr>
            </a:pPr>
            <a:r>
              <a:rPr sz="2700" b="1">
                <a:solidFill>
                  <a:srgbClr val="FFF2C2"/>
                </a:solidFill>
              </a:rPr>
              <a:t>day.m4a：白天行动</a:t>
            </a:r>
          </a:p>
          <a:p>
            <a:pPr>
              <a:defRPr sz="2700" b="1">
                <a:solidFill>
                  <a:srgbClr val="FFF2C2"/>
                </a:solidFill>
              </a:defRPr>
            </a:pPr>
            <a:r>
              <a:rPr sz="2700" b="1">
                <a:solidFill>
                  <a:srgbClr val="FFF2C2"/>
                </a:solidFill>
              </a:rPr>
              <a:t>night.m4a：夜晚压力</a:t>
            </a:r>
          </a:p>
          <a:p>
            <a:pPr>
              <a:defRPr sz="2700" b="1">
                <a:solidFill>
                  <a:srgbClr val="FFF2C2"/>
                </a:solidFill>
              </a:defRPr>
            </a:pPr>
            <a:r>
              <a:rPr sz="2700" b="1">
                <a:solidFill>
                  <a:srgbClr val="FFF2C2"/>
                </a:solidFill>
              </a:rPr>
              <a:t>ending.m4a：结局回声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5A78AC-2CA7-4609-B4F2-361FB584BF5A}"/>
              </a:ext>
            </a:extLst>
          </p:cNvPr>
          <p:cNvSpPr>
            <a:spLocks noGrp="1"/>
          </p:cNvSpPr>
          <p:nvPr/>
        </p:nvSpPr>
        <p:spPr>
          <a:xfrm>
            <a:off x="1066800" y="7029450"/>
            <a:ext cx="76962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0">
                <a:solidFill>
                  <a:srgbClr val="FFE8BE">
                    <a:alpha val="88000"/>
                  </a:srgbClr>
                </a:solidFill>
              </a:defRPr>
            </a:pPr>
            <a:r>
              <a:rPr sz="2025" b="0">
                <a:solidFill>
                  <a:srgbClr val="FFE8BE">
                    <a:alpha val="88000"/>
                  </a:srgbClr>
                </a:solidFill>
              </a:rPr>
              <a:t>音乐随场景自动切换，开始页保持静默，避免在玩家未交互前打破浏览器播放规则。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B5B7A9A-5573-45DF-AC3B-AD5EA3940A60}"/>
              </a:ext>
            </a:extLst>
          </p:cNvPr>
          <p:cNvSpPr>
            <a:spLocks noGrp="1"/>
          </p:cNvSpPr>
          <p:nvPr/>
        </p:nvSpPr>
        <p:spPr>
          <a:xfrm>
            <a:off x="9525000" y="5410200"/>
            <a:ext cx="342900" cy="247650"/>
          </a:xfrm>
          <a:prstGeom prst="roundRect">
            <a:avLst>
              <a:gd name="adj" fmla="val 15385"/>
            </a:avLst>
          </a:prstGeom>
          <a:solidFill>
            <a:srgbClr val="9FD56F"/>
          </a:solidFill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B59E40C-8B9B-46F2-B42F-78197D6ACA64}"/>
              </a:ext>
            </a:extLst>
          </p:cNvPr>
          <p:cNvSpPr>
            <a:spLocks noGrp="1"/>
          </p:cNvSpPr>
          <p:nvPr/>
        </p:nvSpPr>
        <p:spPr>
          <a:xfrm>
            <a:off x="9944100" y="5257800"/>
            <a:ext cx="342900" cy="409575"/>
          </a:xfrm>
          <a:prstGeom prst="roundRect">
            <a:avLst>
              <a:gd name="adj" fmla="val 11111"/>
            </a:avLst>
          </a:prstGeom>
          <a:solidFill>
            <a:srgbClr val="EF8AA8"/>
          </a:solidFill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1F150BF-7CA2-4E42-A9CF-62D378201B36}"/>
              </a:ext>
            </a:extLst>
          </p:cNvPr>
          <p:cNvSpPr>
            <a:spLocks noGrp="1"/>
          </p:cNvSpPr>
          <p:nvPr/>
        </p:nvSpPr>
        <p:spPr>
          <a:xfrm>
            <a:off x="10401300" y="5105400"/>
            <a:ext cx="342900" cy="571500"/>
          </a:xfrm>
          <a:prstGeom prst="roundRect">
            <a:avLst>
              <a:gd name="adj" fmla="val 11111"/>
            </a:avLst>
          </a:prstGeom>
          <a:solidFill>
            <a:srgbClr val="FFD36C"/>
          </a:solidFill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EBE2C25-1254-4FAB-AE1E-168812FBF9D0}"/>
              </a:ext>
            </a:extLst>
          </p:cNvPr>
          <p:cNvSpPr>
            <a:spLocks noGrp="1"/>
          </p:cNvSpPr>
          <p:nvPr/>
        </p:nvSpPr>
        <p:spPr>
          <a:xfrm>
            <a:off x="10820400" y="4914900"/>
            <a:ext cx="342900" cy="733425"/>
          </a:xfrm>
          <a:prstGeom prst="roundRect">
            <a:avLst>
              <a:gd name="adj" fmla="val 11111"/>
            </a:avLst>
          </a:prstGeom>
          <a:solidFill>
            <a:srgbClr val="9FD56F"/>
          </a:solidFill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A92FAF0-B730-4FDB-AA0F-F12CB3AAF616}"/>
              </a:ext>
            </a:extLst>
          </p:cNvPr>
          <p:cNvSpPr>
            <a:spLocks noGrp="1"/>
          </p:cNvSpPr>
          <p:nvPr/>
        </p:nvSpPr>
        <p:spPr>
          <a:xfrm>
            <a:off x="11239500" y="5295900"/>
            <a:ext cx="342900" cy="371475"/>
          </a:xfrm>
          <a:prstGeom prst="roundRect">
            <a:avLst>
              <a:gd name="adj" fmla="val 11111"/>
            </a:avLst>
          </a:prstGeom>
          <a:solidFill>
            <a:srgbClr val="EF8AA8"/>
          </a:solidFill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C4C939C-6FAE-4AB2-8E72-4AF2F14950D7}"/>
              </a:ext>
            </a:extLst>
          </p:cNvPr>
          <p:cNvSpPr>
            <a:spLocks noGrp="1"/>
          </p:cNvSpPr>
          <p:nvPr/>
        </p:nvSpPr>
        <p:spPr>
          <a:xfrm>
            <a:off x="11696700" y="5143500"/>
            <a:ext cx="342900" cy="533400"/>
          </a:xfrm>
          <a:prstGeom prst="roundRect">
            <a:avLst>
              <a:gd name="adj" fmla="val 11111"/>
            </a:avLst>
          </a:prstGeom>
          <a:solidFill>
            <a:srgbClr val="FFD36C"/>
          </a:solidFill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086CA5A-5653-469E-847E-2D0BA9DCC2F6}"/>
              </a:ext>
            </a:extLst>
          </p:cNvPr>
          <p:cNvSpPr>
            <a:spLocks noGrp="1"/>
          </p:cNvSpPr>
          <p:nvPr/>
        </p:nvSpPr>
        <p:spPr>
          <a:xfrm>
            <a:off x="12115800" y="4953000"/>
            <a:ext cx="342900" cy="695325"/>
          </a:xfrm>
          <a:prstGeom prst="roundRect">
            <a:avLst>
              <a:gd name="adj" fmla="val 11111"/>
            </a:avLst>
          </a:prstGeom>
          <a:solidFill>
            <a:srgbClr val="9FD56F"/>
          </a:solidFill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F2DD314-3DBE-464A-9A71-1C29BCFA0375}"/>
              </a:ext>
            </a:extLst>
          </p:cNvPr>
          <p:cNvSpPr>
            <a:spLocks noGrp="1"/>
          </p:cNvSpPr>
          <p:nvPr/>
        </p:nvSpPr>
        <p:spPr>
          <a:xfrm>
            <a:off x="12573000" y="5334000"/>
            <a:ext cx="342900" cy="333375"/>
          </a:xfrm>
          <a:prstGeom prst="roundRect">
            <a:avLst>
              <a:gd name="adj" fmla="val 11429"/>
            </a:avLst>
          </a:prstGeom>
          <a:solidFill>
            <a:srgbClr val="EF8AA8"/>
          </a:solidFill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2AC3EEB-C09C-4F08-821B-3AF986929F4B}"/>
              </a:ext>
            </a:extLst>
          </p:cNvPr>
          <p:cNvSpPr>
            <a:spLocks noGrp="1"/>
          </p:cNvSpPr>
          <p:nvPr/>
        </p:nvSpPr>
        <p:spPr>
          <a:xfrm>
            <a:off x="12992100" y="5181600"/>
            <a:ext cx="342900" cy="495300"/>
          </a:xfrm>
          <a:prstGeom prst="roundRect">
            <a:avLst>
              <a:gd name="adj" fmla="val 11111"/>
            </a:avLst>
          </a:prstGeom>
          <a:solidFill>
            <a:srgbClr val="FFD36C"/>
          </a:solidFill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DE4F94A-63AA-487C-8B0D-352C5E6DB779}"/>
              </a:ext>
            </a:extLst>
          </p:cNvPr>
          <p:cNvSpPr>
            <a:spLocks noGrp="1"/>
          </p:cNvSpPr>
          <p:nvPr/>
        </p:nvSpPr>
        <p:spPr>
          <a:xfrm>
            <a:off x="13411200" y="4991100"/>
            <a:ext cx="342900" cy="657225"/>
          </a:xfrm>
          <a:prstGeom prst="roundRect">
            <a:avLst>
              <a:gd name="adj" fmla="val 11111"/>
            </a:avLst>
          </a:prstGeom>
          <a:solidFill>
            <a:srgbClr val="9FD56F"/>
          </a:solidFill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A31EF54-5A68-4983-9C4D-F22AF32425E5}"/>
              </a:ext>
            </a:extLst>
          </p:cNvPr>
          <p:cNvSpPr>
            <a:spLocks noGrp="1"/>
          </p:cNvSpPr>
          <p:nvPr/>
        </p:nvSpPr>
        <p:spPr>
          <a:xfrm>
            <a:off x="13868400" y="5372100"/>
            <a:ext cx="342900" cy="295275"/>
          </a:xfrm>
          <a:prstGeom prst="roundRect">
            <a:avLst>
              <a:gd name="adj" fmla="val 12903"/>
            </a:avLst>
          </a:prstGeom>
          <a:solidFill>
            <a:srgbClr val="EF8AA8"/>
          </a:solidFill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059F8BD-3250-419D-906D-A785183B036C}"/>
              </a:ext>
            </a:extLst>
          </p:cNvPr>
          <p:cNvSpPr>
            <a:spLocks noGrp="1"/>
          </p:cNvSpPr>
          <p:nvPr/>
        </p:nvSpPr>
        <p:spPr>
          <a:xfrm>
            <a:off x="14287500" y="5219700"/>
            <a:ext cx="342900" cy="457200"/>
          </a:xfrm>
          <a:prstGeom prst="roundRect">
            <a:avLst>
              <a:gd name="adj" fmla="val 11111"/>
            </a:avLst>
          </a:prstGeom>
          <a:solidFill>
            <a:srgbClr val="FFD36C"/>
          </a:solidFill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F369FDA-D8A0-40D4-98B6-8B7FB3BF95CB}"/>
              </a:ext>
            </a:extLst>
          </p:cNvPr>
          <p:cNvSpPr>
            <a:spLocks noGrp="1"/>
          </p:cNvSpPr>
          <p:nvPr/>
        </p:nvSpPr>
        <p:spPr>
          <a:xfrm>
            <a:off x="14706600" y="5029200"/>
            <a:ext cx="342900" cy="619125"/>
          </a:xfrm>
          <a:prstGeom prst="roundRect">
            <a:avLst>
              <a:gd name="adj" fmla="val 11111"/>
            </a:avLst>
          </a:prstGeom>
          <a:solidFill>
            <a:srgbClr val="9FD56F"/>
          </a:solidFill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BC01003-D59E-410E-A98E-E1BA3BB97C7A}"/>
              </a:ext>
            </a:extLst>
          </p:cNvPr>
          <p:cNvSpPr>
            <a:spLocks noGrp="1"/>
          </p:cNvSpPr>
          <p:nvPr/>
        </p:nvSpPr>
        <p:spPr>
          <a:xfrm>
            <a:off x="15163800" y="5410200"/>
            <a:ext cx="342900" cy="257175"/>
          </a:xfrm>
          <a:prstGeom prst="roundRect">
            <a:avLst>
              <a:gd name="adj" fmla="val 14815"/>
            </a:avLst>
          </a:prstGeom>
          <a:solidFill>
            <a:srgbClr val="EF8AA8"/>
          </a:solidFill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950BDAB-197C-4F53-A7E4-19A01E00431A}"/>
              </a:ext>
            </a:extLst>
          </p:cNvPr>
          <p:cNvSpPr>
            <a:spLocks noGrp="1"/>
          </p:cNvSpPr>
          <p:nvPr/>
        </p:nvSpPr>
        <p:spPr>
          <a:xfrm>
            <a:off x="15582900" y="5257800"/>
            <a:ext cx="342900" cy="419100"/>
          </a:xfrm>
          <a:prstGeom prst="roundRect">
            <a:avLst>
              <a:gd name="adj" fmla="val 11111"/>
            </a:avLst>
          </a:prstGeom>
          <a:solidFill>
            <a:srgbClr val="FFD36C"/>
          </a:solidFill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71FE757-05C1-4F3C-8D97-76D776B42B36}"/>
              </a:ext>
            </a:extLst>
          </p:cNvPr>
          <p:cNvSpPr>
            <a:spLocks noGrp="1"/>
          </p:cNvSpPr>
          <p:nvPr/>
        </p:nvSpPr>
        <p:spPr>
          <a:xfrm>
            <a:off x="16002000" y="5067300"/>
            <a:ext cx="342900" cy="581025"/>
          </a:xfrm>
          <a:prstGeom prst="roundRect">
            <a:avLst>
              <a:gd name="adj" fmla="val 11111"/>
            </a:avLst>
          </a:prstGeom>
          <a:solidFill>
            <a:srgbClr val="9FD56F"/>
          </a:solidFill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51C10D9-3957-4701-B32A-C968FDB2DB1F}"/>
              </a:ext>
            </a:extLst>
          </p:cNvPr>
          <p:cNvSpPr>
            <a:spLocks noGrp="1"/>
          </p:cNvSpPr>
          <p:nvPr/>
        </p:nvSpPr>
        <p:spPr>
          <a:xfrm>
            <a:off x="16459200" y="4914900"/>
            <a:ext cx="342900" cy="742950"/>
          </a:xfrm>
          <a:prstGeom prst="roundRect">
            <a:avLst>
              <a:gd name="adj" fmla="val 11111"/>
            </a:avLst>
          </a:prstGeom>
          <a:solidFill>
            <a:srgbClr val="EF8AA8"/>
          </a:solidFill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5C440D8-D2ED-4D17-B91B-BA1A228A68D3}"/>
              </a:ext>
            </a:extLst>
          </p:cNvPr>
          <p:cNvSpPr>
            <a:spLocks noGrp="1"/>
          </p:cNvSpPr>
          <p:nvPr/>
        </p:nvSpPr>
        <p:spPr>
          <a:xfrm>
            <a:off x="16878300" y="5295900"/>
            <a:ext cx="342900" cy="381000"/>
          </a:xfrm>
          <a:prstGeom prst="roundRect">
            <a:avLst>
              <a:gd name="adj" fmla="val 11111"/>
            </a:avLst>
          </a:prstGeom>
          <a:solidFill>
            <a:srgbClr val="FFD36C"/>
          </a:solidFill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0B69BC5-E43A-4950-8D25-EEE2CB75E884}"/>
              </a:ext>
            </a:extLst>
          </p:cNvPr>
          <p:cNvSpPr>
            <a:spLocks noGrp="1"/>
          </p:cNvSpPr>
          <p:nvPr/>
        </p:nvSpPr>
        <p:spPr>
          <a:xfrm>
            <a:off x="9525000" y="5943600"/>
            <a:ext cx="76962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EF8AA8"/>
                </a:solidFill>
              </a:defRPr>
            </a:pPr>
            <a:r>
              <a:rPr sz="3300" b="1">
                <a:solidFill>
                  <a:srgbClr val="EF8AA8"/>
                </a:solidFill>
              </a:rPr>
              <a:t>交互节奏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1703AA1-AB76-4A72-886C-B6113DFB4EE6}"/>
              </a:ext>
            </a:extLst>
          </p:cNvPr>
          <p:cNvSpPr>
            <a:spLocks noGrp="1"/>
          </p:cNvSpPr>
          <p:nvPr/>
        </p:nvSpPr>
        <p:spPr>
          <a:xfrm>
            <a:off x="9525000" y="6724650"/>
            <a:ext cx="76962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0">
                <a:solidFill>
                  <a:srgbClr val="FFF2C2"/>
                </a:solidFill>
              </a:defRPr>
            </a:pPr>
            <a:r>
              <a:rPr sz="2325" b="0">
                <a:solidFill>
                  <a:srgbClr val="FFF2C2"/>
                </a:solidFill>
              </a:rPr>
              <a:t>白天：点击正确步骤，得到反馈。</a:t>
            </a:r>
          </a:p>
          <a:p>
            <a:pPr>
              <a:defRPr sz="2325" b="0">
                <a:solidFill>
                  <a:srgbClr val="FFF2C2"/>
                </a:solidFill>
              </a:defRPr>
            </a:pPr>
            <a:r>
              <a:rPr sz="2325" b="0">
                <a:solidFill>
                  <a:srgbClr val="FFF2C2"/>
                </a:solidFill>
              </a:rPr>
              <a:t>夜晚：每个按钮都是一种表达策略，也是一种损耗方式。</a:t>
            </a:r>
          </a:p>
        </p:txBody>
      </p:sp>
    </p:spTree>
    <p:extLst>
      <p:ext uri="{BB962C8B-B14F-4D97-AF65-F5344CB8AC3E}">
        <p14:creationId xmlns:p14="http://schemas.microsoft.com/office/powerpoint/2010/main" val="785244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g-ending.png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bg-scrim">
            <a:extLst>
              <a:ext uri="{FF2B5EF4-FFF2-40B4-BE49-F238E27FC236}">
                <a16:creationId xmlns:a16="http://schemas.microsoft.com/office/drawing/2014/main" id="{E12743EE-1251-45B2-8ECC-B35D01D233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10D14">
              <a:alpha val="64000"/>
            </a:srgbClr>
          </a:solidFill>
        </p:spPr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DB09B4D1-CDDB-4DC5-A4D7-0D481CF1CE6B}"/>
              </a:ext>
            </a:extLst>
          </p:cNvPr>
          <p:cNvSpPr>
            <a:spLocks noGrp="1"/>
          </p:cNvSpPr>
          <p:nvPr/>
        </p:nvSpPr>
        <p:spPr>
          <a:xfrm>
            <a:off x="1066800" y="85725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08 / MEANING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57AE5403-0E51-457E-BEAB-DE75E8634985}"/>
              </a:ext>
            </a:extLst>
          </p:cNvPr>
          <p:cNvSpPr>
            <a:spLocks noGrp="1"/>
          </p:cNvSpPr>
          <p:nvPr/>
        </p:nvSpPr>
        <p:spPr>
          <a:xfrm>
            <a:off x="1066800" y="1333500"/>
            <a:ext cx="16154400" cy="1657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作品价值：把“说清楚”从道德要求变成可被质疑的机制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6A151A-9B5A-4CF2-A5E2-901570670893}"/>
              </a:ext>
            </a:extLst>
          </p:cNvPr>
          <p:cNvSpPr>
            <a:spLocks noGrp="1"/>
          </p:cNvSpPr>
          <p:nvPr/>
        </p:nvSpPr>
        <p:spPr>
          <a:xfrm>
            <a:off x="1066800" y="3181350"/>
            <a:ext cx="9525" cy="9525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" name="meaning-claim">
            <a:extLst>
              <a:ext uri="{FF2B5EF4-FFF2-40B4-BE49-F238E27FC236}">
                <a16:creationId xmlns:a16="http://schemas.microsoft.com/office/drawing/2014/main" id="{E2ADE0D1-7323-4535-A160-AF814271368E}"/>
              </a:ext>
            </a:extLst>
          </p:cNvPr>
          <p:cNvSpPr>
            <a:spLocks noGrp="1"/>
          </p:cNvSpPr>
          <p:nvPr/>
        </p:nvSpPr>
        <p:spPr>
          <a:xfrm>
            <a:off x="1066800" y="5562600"/>
            <a:ext cx="12954000" cy="1104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FFF3BD"/>
                </a:solidFill>
              </a:defRPr>
            </a:pPr>
            <a:r>
              <a:rPr sz="3600" b="1">
                <a:solidFill>
                  <a:srgbClr val="FFF3BD"/>
                </a:solidFill>
              </a:rPr>
              <a:t>玩家最终带走的不是一套沟通技巧，而是一个更尖锐的问题：</a:t>
            </a:r>
          </a:p>
          <a:p>
            <a:pPr>
              <a:defRPr sz="3600" b="1">
                <a:solidFill>
                  <a:srgbClr val="FFF3BD"/>
                </a:solidFill>
              </a:defRPr>
            </a:pPr>
            <a:r>
              <a:rPr sz="3600" b="1">
                <a:solidFill>
                  <a:srgbClr val="FFF3BD"/>
                </a:solidFill>
              </a:rPr>
              <a:t>当关系把每次解释都改写成新误解时，我是否还必须继续解释？</a:t>
            </a:r>
          </a:p>
        </p:txBody>
      </p:sp>
      <p:sp>
        <p:nvSpPr>
          <p:cNvPr id="7" name="chip-适合课堂讨论">
            <a:extLst>
              <a:ext uri="{FF2B5EF4-FFF2-40B4-BE49-F238E27FC236}">
                <a16:creationId xmlns:a16="http://schemas.microsoft.com/office/drawing/2014/main" id="{FC6ADF7A-0225-4859-8DB2-E3528A6BC552}"/>
              </a:ext>
            </a:extLst>
          </p:cNvPr>
          <p:cNvSpPr>
            <a:spLocks noGrp="1"/>
          </p:cNvSpPr>
          <p:nvPr/>
        </p:nvSpPr>
        <p:spPr>
          <a:xfrm>
            <a:off x="1066800" y="9022080"/>
            <a:ext cx="1428750" cy="407670"/>
          </a:xfrm>
          <a:prstGeom prst="roundRect">
            <a:avLst>
              <a:gd name="adj" fmla="val 14019"/>
            </a:avLst>
          </a:prstGeom>
          <a:solidFill>
            <a:srgbClr val="301C12">
              <a:alpha val="76000"/>
            </a:srgbClr>
          </a:solidFill>
          <a:ln w="19050">
            <a:solidFill>
              <a:srgbClr val="9FD56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EA9533-F954-4F36-9A82-94D70F7958CC}"/>
              </a:ext>
            </a:extLst>
          </p:cNvPr>
          <p:cNvSpPr>
            <a:spLocks noGrp="1"/>
          </p:cNvSpPr>
          <p:nvPr/>
        </p:nvSpPr>
        <p:spPr>
          <a:xfrm>
            <a:off x="1238250" y="9124950"/>
            <a:ext cx="1085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9FD56F"/>
                </a:solidFill>
              </a:defRPr>
            </a:pPr>
            <a:r>
              <a:rPr sz="1425" b="1">
                <a:solidFill>
                  <a:srgbClr val="9FD56F"/>
                </a:solidFill>
              </a:rPr>
              <a:t>适合课堂讨论</a:t>
            </a:r>
          </a:p>
        </p:txBody>
      </p:sp>
      <p:sp>
        <p:nvSpPr>
          <p:cNvPr id="9" name="chip-适合互动展陈">
            <a:extLst>
              <a:ext uri="{FF2B5EF4-FFF2-40B4-BE49-F238E27FC236}">
                <a16:creationId xmlns:a16="http://schemas.microsoft.com/office/drawing/2014/main" id="{4EAFB797-C18E-44FF-860B-9BB6C7252D78}"/>
              </a:ext>
            </a:extLst>
          </p:cNvPr>
          <p:cNvSpPr>
            <a:spLocks noGrp="1"/>
          </p:cNvSpPr>
          <p:nvPr/>
        </p:nvSpPr>
        <p:spPr>
          <a:xfrm>
            <a:off x="2705100" y="9022080"/>
            <a:ext cx="1428750" cy="407670"/>
          </a:xfrm>
          <a:prstGeom prst="roundRect">
            <a:avLst>
              <a:gd name="adj" fmla="val 14019"/>
            </a:avLst>
          </a:prstGeom>
          <a:solidFill>
            <a:srgbClr val="301C12">
              <a:alpha val="76000"/>
            </a:srgbClr>
          </a:solidFill>
          <a:ln w="19050">
            <a:solidFill>
              <a:srgbClr val="FFD36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C682BD-D144-4360-80B2-989EF1B52A98}"/>
              </a:ext>
            </a:extLst>
          </p:cNvPr>
          <p:cNvSpPr>
            <a:spLocks noGrp="1"/>
          </p:cNvSpPr>
          <p:nvPr/>
        </p:nvSpPr>
        <p:spPr>
          <a:xfrm>
            <a:off x="2876550" y="9124950"/>
            <a:ext cx="1085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D36C"/>
                </a:solidFill>
              </a:defRPr>
            </a:pPr>
            <a:r>
              <a:rPr sz="1425" b="1">
                <a:solidFill>
                  <a:srgbClr val="FFD36C"/>
                </a:solidFill>
              </a:rPr>
              <a:t>适合互动展陈</a:t>
            </a:r>
          </a:p>
        </p:txBody>
      </p:sp>
      <p:sp>
        <p:nvSpPr>
          <p:cNvPr id="11" name="chip-适合继续扩写章节">
            <a:extLst>
              <a:ext uri="{FF2B5EF4-FFF2-40B4-BE49-F238E27FC236}">
                <a16:creationId xmlns:a16="http://schemas.microsoft.com/office/drawing/2014/main" id="{42F6E6BD-ADE9-442B-BF10-DEF5DEF5F989}"/>
              </a:ext>
            </a:extLst>
          </p:cNvPr>
          <p:cNvSpPr>
            <a:spLocks noGrp="1"/>
          </p:cNvSpPr>
          <p:nvPr/>
        </p:nvSpPr>
        <p:spPr>
          <a:xfrm>
            <a:off x="4343400" y="9022080"/>
            <a:ext cx="1790700" cy="407670"/>
          </a:xfrm>
          <a:prstGeom prst="roundRect">
            <a:avLst>
              <a:gd name="adj" fmla="val 14019"/>
            </a:avLst>
          </a:prstGeom>
          <a:solidFill>
            <a:srgbClr val="301C12">
              <a:alpha val="76000"/>
            </a:srgbClr>
          </a:solidFill>
          <a:ln w="19050">
            <a:solidFill>
              <a:srgbClr val="EF8AA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D8EF21-D964-4FAF-A11C-52BE406E20F2}"/>
              </a:ext>
            </a:extLst>
          </p:cNvPr>
          <p:cNvSpPr>
            <a:spLocks noGrp="1"/>
          </p:cNvSpPr>
          <p:nvPr/>
        </p:nvSpPr>
        <p:spPr>
          <a:xfrm>
            <a:off x="4514850" y="9124950"/>
            <a:ext cx="1447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EF8AA8"/>
                </a:solidFill>
              </a:defRPr>
            </a:pPr>
            <a:r>
              <a:rPr sz="1425" b="1">
                <a:solidFill>
                  <a:srgbClr val="EF8AA8"/>
                </a:solidFill>
              </a:rPr>
              <a:t>适合继续扩写章节</a:t>
            </a:r>
          </a:p>
        </p:txBody>
      </p:sp>
    </p:spTree>
    <p:extLst>
      <p:ext uri="{BB962C8B-B14F-4D97-AF65-F5344CB8AC3E}">
        <p14:creationId xmlns:p14="http://schemas.microsoft.com/office/powerpoint/2010/main" val="1779512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g-day2-document.png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bg-scrim">
            <a:extLst>
              <a:ext uri="{FF2B5EF4-FFF2-40B4-BE49-F238E27FC236}">
                <a16:creationId xmlns:a16="http://schemas.microsoft.com/office/drawing/2014/main" id="{74367E0D-9546-44AF-8729-7D7617FADE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70E0F">
              <a:alpha val="74000"/>
            </a:srgbClr>
          </a:solidFill>
        </p:spPr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E7B155C3-04F6-4863-BDE7-21AC27CC5FE1}"/>
              </a:ext>
            </a:extLst>
          </p:cNvPr>
          <p:cNvSpPr>
            <a:spLocks noGrp="1"/>
          </p:cNvSpPr>
          <p:nvPr/>
        </p:nvSpPr>
        <p:spPr>
          <a:xfrm>
            <a:off x="1066800" y="80010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FFD36C"/>
                </a:solidFill>
              </a:defRPr>
            </a:pPr>
            <a:r>
              <a:rPr sz="1725" b="1">
                <a:solidFill>
                  <a:srgbClr val="FFD36C"/>
                </a:solidFill>
              </a:rPr>
              <a:t>09 / NEXT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EBE169A8-2118-4E34-A713-06F8C306413E}"/>
              </a:ext>
            </a:extLst>
          </p:cNvPr>
          <p:cNvSpPr>
            <a:spLocks noGrp="1"/>
          </p:cNvSpPr>
          <p:nvPr/>
        </p:nvSpPr>
        <p:spPr>
          <a:xfrm>
            <a:off x="1066800" y="1276350"/>
            <a:ext cx="161544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400" b="1">
                <a:solidFill>
                  <a:srgbClr val="FFF2C2"/>
                </a:solidFill>
              </a:defRPr>
            </a:pPr>
            <a:r>
              <a:rPr sz="5400" b="1">
                <a:solidFill>
                  <a:srgbClr val="FFF2C2"/>
                </a:solidFill>
              </a:rPr>
              <a:t>后续方向：从短篇原型扩展为可复玩的叙事系统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F34963-ADDC-4C2C-BFD0-349C5CFA8601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9525" cy="9525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7B30DE-AD9B-4BC4-85A9-1533FFF72819}"/>
              </a:ext>
            </a:extLst>
          </p:cNvPr>
          <p:cNvSpPr>
            <a:spLocks noGrp="1"/>
          </p:cNvSpPr>
          <p:nvPr/>
        </p:nvSpPr>
        <p:spPr>
          <a:xfrm>
            <a:off x="1066800" y="4610100"/>
            <a:ext cx="51244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FD36C"/>
                </a:solidFill>
              </a:defRPr>
            </a:pPr>
            <a:r>
              <a:rPr sz="3150" b="1">
                <a:solidFill>
                  <a:srgbClr val="FFD36C"/>
                </a:solidFill>
              </a:rPr>
              <a:t>内容扩展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A07F8A-9640-4552-932E-B4CAD96E7D9F}"/>
              </a:ext>
            </a:extLst>
          </p:cNvPr>
          <p:cNvSpPr>
            <a:spLocks noGrp="1"/>
          </p:cNvSpPr>
          <p:nvPr/>
        </p:nvSpPr>
        <p:spPr>
          <a:xfrm>
            <a:off x="1066800" y="5295900"/>
            <a:ext cx="51244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FFF2C2"/>
                </a:solidFill>
              </a:defRPr>
            </a:pPr>
            <a:r>
              <a:rPr sz="2250" b="0">
                <a:solidFill>
                  <a:srgbClr val="FFF2C2"/>
                </a:solidFill>
              </a:rPr>
              <a:t>增加更多天数、更多关系类型，让误解模式形成可比较的谱系。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67D202-9B33-4DF3-9C9D-6EAE37EC6136}"/>
              </a:ext>
            </a:extLst>
          </p:cNvPr>
          <p:cNvSpPr>
            <a:spLocks noGrp="1"/>
          </p:cNvSpPr>
          <p:nvPr/>
        </p:nvSpPr>
        <p:spPr>
          <a:xfrm>
            <a:off x="6591300" y="4610100"/>
            <a:ext cx="51244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9FD56F"/>
                </a:solidFill>
              </a:defRPr>
            </a:pPr>
            <a:r>
              <a:rPr sz="3150" b="1">
                <a:solidFill>
                  <a:srgbClr val="9FD56F"/>
                </a:solidFill>
              </a:rPr>
              <a:t>系统扩展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590684-C481-4442-99B5-52690D7BC417}"/>
              </a:ext>
            </a:extLst>
          </p:cNvPr>
          <p:cNvSpPr>
            <a:spLocks noGrp="1"/>
          </p:cNvSpPr>
          <p:nvPr/>
        </p:nvSpPr>
        <p:spPr>
          <a:xfrm>
            <a:off x="6591300" y="5295900"/>
            <a:ext cx="51244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FFF2C2"/>
                </a:solidFill>
              </a:defRPr>
            </a:pPr>
            <a:r>
              <a:rPr sz="2250" b="0">
                <a:solidFill>
                  <a:srgbClr val="FFF2C2"/>
                </a:solidFill>
              </a:rPr>
              <a:t>加入存档、章节选择、音量控制，让玩家回看不同选择的代价。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67CAF4-CBB8-464B-93E6-EE9DDB549592}"/>
              </a:ext>
            </a:extLst>
          </p:cNvPr>
          <p:cNvSpPr>
            <a:spLocks noGrp="1"/>
          </p:cNvSpPr>
          <p:nvPr/>
        </p:nvSpPr>
        <p:spPr>
          <a:xfrm>
            <a:off x="12096750" y="4610100"/>
            <a:ext cx="51244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EF8AA8"/>
                </a:solidFill>
              </a:defRPr>
            </a:pPr>
            <a:r>
              <a:rPr sz="3150" b="1">
                <a:solidFill>
                  <a:srgbClr val="EF8AA8"/>
                </a:solidFill>
              </a:rPr>
              <a:t>表现扩展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5BB40E2-EF5F-4631-B76D-DA70D1461929}"/>
              </a:ext>
            </a:extLst>
          </p:cNvPr>
          <p:cNvSpPr>
            <a:spLocks noGrp="1"/>
          </p:cNvSpPr>
          <p:nvPr/>
        </p:nvSpPr>
        <p:spPr>
          <a:xfrm>
            <a:off x="12096750" y="5295900"/>
            <a:ext cx="51244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FFF2C2"/>
                </a:solidFill>
              </a:defRPr>
            </a:pPr>
            <a:r>
              <a:rPr sz="2250" b="0">
                <a:solidFill>
                  <a:srgbClr val="FFF2C2"/>
                </a:solidFill>
              </a:rPr>
              <a:t>为结局增加专属画面、音效和更明确的情绪转场。</a:t>
            </a:r>
          </a:p>
        </p:txBody>
      </p:sp>
      <p:sp>
        <p:nvSpPr>
          <p:cNvPr id="12" name="footer-rule">
            <a:extLst>
              <a:ext uri="{FF2B5EF4-FFF2-40B4-BE49-F238E27FC236}">
                <a16:creationId xmlns:a16="http://schemas.microsoft.com/office/drawing/2014/main" id="{4A14620E-1D3B-4810-A405-2743A9C2EAB6}"/>
              </a:ext>
            </a:extLst>
          </p:cNvPr>
          <p:cNvSpPr>
            <a:spLocks noGrp="1"/>
          </p:cNvSpPr>
          <p:nvPr/>
        </p:nvSpPr>
        <p:spPr>
          <a:xfrm>
            <a:off x="1981200" y="8858250"/>
            <a:ext cx="1714500" cy="38100"/>
          </a:xfrm>
          <a:prstGeom prst="rect">
            <a:avLst/>
          </a:prstGeom>
          <a:solidFill>
            <a:srgbClr val="FFD36C">
              <a:alpha val="68000"/>
            </a:srgbClr>
          </a:solidFill>
          <a:ln w="0">
            <a:solidFill>
              <a:srgbClr val="FFD36C">
                <a:alpha val="68000"/>
              </a:srgbClr>
            </a:solidFill>
            <a:prstDash val="solid"/>
          </a:ln>
        </p:spPr>
      </p:sp>
      <p:sp>
        <p:nvSpPr>
          <p:cNvPr id="13" name="footer-label">
            <a:extLst>
              <a:ext uri="{FF2B5EF4-FFF2-40B4-BE49-F238E27FC236}">
                <a16:creationId xmlns:a16="http://schemas.microsoft.com/office/drawing/2014/main" id="{90B63F03-E988-4DD4-8E32-EF8C80821505}"/>
              </a:ext>
            </a:extLst>
          </p:cNvPr>
          <p:cNvSpPr>
            <a:spLocks noGrp="1"/>
          </p:cNvSpPr>
          <p:nvPr/>
        </p:nvSpPr>
        <p:spPr>
          <a:xfrm>
            <a:off x="10001250" y="8763000"/>
            <a:ext cx="6305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FFE2A5">
                    <a:alpha val="78000"/>
                  </a:srgbClr>
                </a:solidFill>
              </a:defRPr>
            </a:pPr>
            <a:r>
              <a:rPr sz="1425" b="0">
                <a:solidFill>
                  <a:srgbClr val="FFE2A5">
                    <a:alpha val="78000"/>
                  </a:srgbClr>
                </a:solidFill>
              </a:rPr>
              <a:t>汇报重点：主题明确，形式轻量，视听风格和机制共同服务“无法收敛”的体验。</a:t>
            </a:r>
          </a:p>
        </p:txBody>
      </p:sp>
    </p:spTree>
    <p:extLst>
      <p:ext uri="{BB962C8B-B14F-4D97-AF65-F5344CB8AC3E}">
        <p14:creationId xmlns:p14="http://schemas.microsoft.com/office/powerpoint/2010/main" val="14177559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Microsoft Office PowerPoint</Application>
  <DocSecurity>0</DocSecurity>
  <PresentationFormat>自定义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shiny 陈</cp:lastModifiedBy>
  <cp:revision>1</cp:revision>
  <dcterms:created xsi:type="dcterms:W3CDTF">2026-05-19T10:36:33Z</dcterms:created>
  <dcterms:modified xsi:type="dcterms:W3CDTF">2026-05-19T10:49:56Z</dcterms:modified>
</cp:coreProperties>
</file>