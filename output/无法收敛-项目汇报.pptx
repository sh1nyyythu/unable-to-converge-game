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c221f9deb24083" /><Relationship Type="http://schemas.openxmlformats.org/officeDocument/2006/relationships/extended-properties" Target="/docProps/app.xml" Id="R7f3f64ec2f664a7f" /><Relationship Type="http://schemas.openxmlformats.org/officeDocument/2006/relationships/officeDocument" Target="/ppt/presentation.xml" Id="R040bc1c85eef46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df4729fe614623"/>
  </p:sldMasterIdLst>
  <p:notesMasterIdLst>
    <p:notesMasterId xmlns:r="http://schemas.openxmlformats.org/officeDocument/2006/relationships" r:id="R3d0d963795f54ea2"/>
  </p:notesMasterIdLst>
  <p:sldIdLst>
    <p:sldId xmlns:r="http://schemas.openxmlformats.org/officeDocument/2006/relationships" id="256" r:id="R7de315f13508417c"/>
    <p:sldId xmlns:r="http://schemas.openxmlformats.org/officeDocument/2006/relationships" id="257" r:id="R1b977fcceb7d46db"/>
    <p:sldId xmlns:r="http://schemas.openxmlformats.org/officeDocument/2006/relationships" id="258" r:id="Rf25ce08a5f184b4e"/>
    <p:sldId xmlns:r="http://schemas.openxmlformats.org/officeDocument/2006/relationships" id="259" r:id="R9b5b43ba216a4848"/>
    <p:sldId xmlns:r="http://schemas.openxmlformats.org/officeDocument/2006/relationships" id="260" r:id="R017da9707651477c"/>
    <p:sldId xmlns:r="http://schemas.openxmlformats.org/officeDocument/2006/relationships" id="261" r:id="R8c039f5900444ba6"/>
    <p:sldId xmlns:r="http://schemas.openxmlformats.org/officeDocument/2006/relationships" id="262" r:id="R8869594d206842d9"/>
    <p:sldId xmlns:r="http://schemas.openxmlformats.org/officeDocument/2006/relationships" id="263" r:id="Rcac295c78fc1475d"/>
    <p:sldId xmlns:r="http://schemas.openxmlformats.org/officeDocument/2006/relationships" id="264" r:id="Rce6e71a323174bda"/>
    <p:sldId xmlns:r="http://schemas.openxmlformats.org/officeDocument/2006/relationships" id="265" r:id="R15b1e6f9509b40a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f4729fe614623" /><Relationship Type="http://schemas.openxmlformats.org/officeDocument/2006/relationships/theme" Target="/ppt/theme/theme1.xml" Id="R0d65ab1f38ad4276" /><Relationship Type="http://schemas.openxmlformats.org/officeDocument/2006/relationships/notesMaster" Target="/ppt/notesMasters/notesMaster1.xml" Id="R3d0d963795f54ea2" /><Relationship Type="http://schemas.openxmlformats.org/officeDocument/2006/relationships/presProps" Target="/ppt/presProps.xml" Id="R832a79972ca54afd" /><Relationship Type="http://schemas.openxmlformats.org/officeDocument/2006/relationships/viewProps" Target="/ppt/viewProps.xml" Id="R0d7a815a946e4862" /><Relationship Type="http://schemas.openxmlformats.org/officeDocument/2006/relationships/tableStyles" Target="/ppt/tableStyles.xml" Id="R5ad989e331f2419c" /><Relationship Type="http://schemas.openxmlformats.org/officeDocument/2006/relationships/slide" Target="/ppt/slides/slide1.xml" Id="R7de315f13508417c" /><Relationship Type="http://schemas.openxmlformats.org/officeDocument/2006/relationships/slide" Target="/ppt/slides/slide2.xml" Id="R1b977fcceb7d46db" /><Relationship Type="http://schemas.openxmlformats.org/officeDocument/2006/relationships/slide" Target="/ppt/slides/slide3.xml" Id="Rf25ce08a5f184b4e" /><Relationship Type="http://schemas.openxmlformats.org/officeDocument/2006/relationships/slide" Target="/ppt/slides/slide4.xml" Id="R9b5b43ba216a4848" /><Relationship Type="http://schemas.openxmlformats.org/officeDocument/2006/relationships/slide" Target="/ppt/slides/slide5.xml" Id="R017da9707651477c" /><Relationship Type="http://schemas.openxmlformats.org/officeDocument/2006/relationships/slide" Target="/ppt/slides/slide6.xml" Id="R8c039f5900444ba6" /><Relationship Type="http://schemas.openxmlformats.org/officeDocument/2006/relationships/slide" Target="/ppt/slides/slide7.xml" Id="R8869594d206842d9" /><Relationship Type="http://schemas.openxmlformats.org/officeDocument/2006/relationships/slide" Target="/ppt/slides/slide8.xml" Id="Rcac295c78fc1475d" /><Relationship Type="http://schemas.openxmlformats.org/officeDocument/2006/relationships/slide" Target="/ppt/slides/slide9.xml" Id="Rce6e71a323174bda" /><Relationship Type="http://schemas.openxmlformats.org/officeDocument/2006/relationships/slide" Target="/ppt/slides/slide10.xml" Id="R15b1e6f9509b40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028d7572de8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15c7c6a63f49d6" /><Relationship Type="http://schemas.openxmlformats.org/officeDocument/2006/relationships/notesMaster" Target="/ppt/notesMasters/notesMaster1.xml" Id="R441b3f2d020f44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1b1268fb4486f" /><Relationship Type="http://schemas.openxmlformats.org/officeDocument/2006/relationships/notesMaster" Target="/ppt/notesMasters/notesMaster1.xml" Id="R7b302e97bdd24d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c6b763dc740e4" /><Relationship Type="http://schemas.openxmlformats.org/officeDocument/2006/relationships/notesMaster" Target="/ppt/notesMasters/notesMaster1.xml" Id="Ra243677a7e464e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dfd76dc9d24fe3" /><Relationship Type="http://schemas.openxmlformats.org/officeDocument/2006/relationships/notesMaster" Target="/ppt/notesMasters/notesMaster1.xml" Id="R6bae53d778d144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1b5851d0c24eee" /><Relationship Type="http://schemas.openxmlformats.org/officeDocument/2006/relationships/notesMaster" Target="/ppt/notesMasters/notesMaster1.xml" Id="Re6dc1aed20ac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85d98924c54fc5" /><Relationship Type="http://schemas.openxmlformats.org/officeDocument/2006/relationships/notesMaster" Target="/ppt/notesMasters/notesMaster1.xml" Id="R588edc1d5c4048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bbfe493e146f2" /><Relationship Type="http://schemas.openxmlformats.org/officeDocument/2006/relationships/notesMaster" Target="/ppt/notesMasters/notesMaster1.xml" Id="R9c647326aca54b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4401bf81ba45e7" /><Relationship Type="http://schemas.openxmlformats.org/officeDocument/2006/relationships/notesMaster" Target="/ppt/notesMasters/notesMaster1.xml" Id="R44fbcd1109f04a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bea520899544b8" /><Relationship Type="http://schemas.openxmlformats.org/officeDocument/2006/relationships/notesMaster" Target="/ppt/notesMasters/notesMaster1.xml" Id="R7073d428d9bd46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4ac59aadde43eb" /><Relationship Type="http://schemas.openxmlformats.org/officeDocument/2006/relationships/notesMaster" Target="/ppt/notesMasters/notesMaster1.xml" Id="R4e60b01ceff0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1626c443241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008ac826eb41cb" /><Relationship Type="http://schemas.openxmlformats.org/officeDocument/2006/relationships/slideLayout" Target="/ppt/slideLayouts/slideLayout2.xml" Id="R693b7eb30b104e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3b7eb30b104e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ebcf45fd314f49" /><Relationship Type="http://schemas.openxmlformats.org/officeDocument/2006/relationships/image" Target="/ppt/media/image.png" Id="R8197f477c62d480b" /><Relationship Type="http://schemas.openxmlformats.org/officeDocument/2006/relationships/notesSlide" Target="/ppt/notesSlides/notesSlide1.xml" Id="Rfb1413af97834e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544f391665418f" /><Relationship Type="http://schemas.openxmlformats.org/officeDocument/2006/relationships/image" Target="/ppt/media/image2.png" Id="R1639fb0211fe49e3" /><Relationship Type="http://schemas.openxmlformats.org/officeDocument/2006/relationships/image" Target="/ppt/media/image3.png" Id="Re1943406aafc466b" /><Relationship Type="http://schemas.openxmlformats.org/officeDocument/2006/relationships/notesSlide" Target="/ppt/notesSlides/notesSlide2.xml" Id="Rfb53c356936046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8ea1ef66c7459f" /><Relationship Type="http://schemas.openxmlformats.org/officeDocument/2006/relationships/image" Target="/ppt/media/image4.png" Id="R13f2f13a9eba4408" /><Relationship Type="http://schemas.openxmlformats.org/officeDocument/2006/relationships/image" Target="/ppt/media/image5.png" Id="Rd54ed356e03e4126" /><Relationship Type="http://schemas.openxmlformats.org/officeDocument/2006/relationships/image" Target="/ppt/media/image6.png" Id="R963096adf80047d0" /><Relationship Type="http://schemas.openxmlformats.org/officeDocument/2006/relationships/image" Target="/ppt/media/image7.png" Id="R4b5fea5b30074988" /><Relationship Type="http://schemas.openxmlformats.org/officeDocument/2006/relationships/image" Target="/ppt/media/image8.png" Id="R1284d9fcfc9e4e45" /><Relationship Type="http://schemas.openxmlformats.org/officeDocument/2006/relationships/image" Target="/ppt/media/image9.png" Id="Rb0b8fcab523c4466" /><Relationship Type="http://schemas.openxmlformats.org/officeDocument/2006/relationships/image" Target="/ppt/media/image10.png" Id="R9f8450e860e34ab2" /><Relationship Type="http://schemas.openxmlformats.org/officeDocument/2006/relationships/image" Target="/ppt/media/image11.png" Id="Rd992590dfc724cb9" /><Relationship Type="http://schemas.openxmlformats.org/officeDocument/2006/relationships/image" Target="/ppt/media/image12.png" Id="R184963b9622543ba" /><Relationship Type="http://schemas.openxmlformats.org/officeDocument/2006/relationships/notesSlide" Target="/ppt/notesSlides/notesSlide3.xml" Id="R3cfb6368254643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b3a124509c4933" /><Relationship Type="http://schemas.openxmlformats.org/officeDocument/2006/relationships/image" Target="/ppt/media/image13.png" Id="R4e99a926c2cd4779" /><Relationship Type="http://schemas.openxmlformats.org/officeDocument/2006/relationships/notesSlide" Target="/ppt/notesSlides/notesSlide4.xml" Id="Rdce47ed8b91f47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660823e68b4156" /><Relationship Type="http://schemas.openxmlformats.org/officeDocument/2006/relationships/image" Target="/ppt/media/image14.png" Id="Re35623eaa0d54067" /><Relationship Type="http://schemas.openxmlformats.org/officeDocument/2006/relationships/notesSlide" Target="/ppt/notesSlides/notesSlide5.xml" Id="R0e4dcd65e05141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0e2700ec2d445c" /><Relationship Type="http://schemas.openxmlformats.org/officeDocument/2006/relationships/image" Target="/ppt/media/image15.png" Id="Rb0d5884214534c48" /><Relationship Type="http://schemas.openxmlformats.org/officeDocument/2006/relationships/notesSlide" Target="/ppt/notesSlides/notesSlide6.xml" Id="R925a3813a2aa42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4d271c21a4473b" /><Relationship Type="http://schemas.openxmlformats.org/officeDocument/2006/relationships/image" Target="/ppt/media/image16.png" Id="R496e10e4f8a04108" /><Relationship Type="http://schemas.openxmlformats.org/officeDocument/2006/relationships/image" Target="/ppt/media/image17.png" Id="R90f5e38c15954efa" /><Relationship Type="http://schemas.openxmlformats.org/officeDocument/2006/relationships/image" Target="/ppt/media/image18.png" Id="R5feb872aa9834c82" /><Relationship Type="http://schemas.openxmlformats.org/officeDocument/2006/relationships/notesSlide" Target="/ppt/notesSlides/notesSlide7.xml" Id="R629182d2d6754a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163eb7b7e4d32" /><Relationship Type="http://schemas.openxmlformats.org/officeDocument/2006/relationships/image" Target="/ppt/media/image19.png" Id="Ra8381d569bd444a2" /><Relationship Type="http://schemas.openxmlformats.org/officeDocument/2006/relationships/notesSlide" Target="/ppt/notesSlides/notesSlide8.xml" Id="Rd646b0cd5eb74f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719ef8af344dc" /><Relationship Type="http://schemas.openxmlformats.org/officeDocument/2006/relationships/image" Target="/ppt/media/image20.png" Id="R6540588ee9d94018" /><Relationship Type="http://schemas.openxmlformats.org/officeDocument/2006/relationships/notesSlide" Target="/ppt/notesSlides/notesSlide9.xml" Id="R96ac74af3fc842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7d813a845848ae" /><Relationship Type="http://schemas.openxmlformats.org/officeDocument/2006/relationships/image" Target="/ppt/media/image21.png" Id="Ra832ae0795b942af" /><Relationship Type="http://schemas.openxmlformats.org/officeDocument/2006/relationships/notesSlide" Target="/ppt/notesSlides/notesSlide10.xml" Id="R3f8e26d1b07b45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-star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7f477c62d480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g-scrim">
            <a:extLst xmlns:a="http://schemas.openxmlformats.org/drawingml/2006/main">
              <a:ext uri="{FF2B5EF4-FFF2-40B4-BE49-F238E27FC236}">
                <a16:creationId xmlns:a16="http://schemas.microsoft.com/office/drawing/2014/main" id="{5FB80812-9E1E-49F2-87F3-E9A55CAA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F10">
              <a:alpha val="46000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D9BB2-4B30-4925-B1B0-FCE43EF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36C"/>
                </a:solidFill>
              </a:defRPr>
            </a:pPr>
            <a:r>
              <a:rPr sz="1800" b="1">
                <a:solidFill>
                  <a:srgbClr val="FFD36C"/>
                </a:solidFill>
              </a:rPr>
              <a:t>项目汇报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34F16-8330-4FEA-AA1E-D36977CB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914400"/>
            <a:ext cx="2895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E2AD">
                    <a:alpha val="82000"/>
                  </a:srgbClr>
                </a:solidFill>
              </a:defRPr>
            </a:pPr>
            <a:r>
              <a:rPr sz="1650" b="0">
                <a:solidFill>
                  <a:srgbClr val="FFE2AD">
                    <a:alpha val="82000"/>
                  </a:srgbClr>
                </a:solidFill>
              </a:rPr>
              <a:t>原生 HTML / Canvas 2D 叙事游戏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AF57774-6036-4BBC-AFFF-045BC42C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8572500" cy="2800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150" b="1">
                <a:solidFill>
                  <a:srgbClr val="FFF4BD"/>
                </a:solidFill>
              </a:defRPr>
            </a:pPr>
            <a:r>
              <a:rPr sz="9150" b="1">
                <a:solidFill>
                  <a:srgbClr val="FFF4BD"/>
                </a:solidFill>
              </a:rPr>
              <a:t>无法</a:t>
            </a:r>
          </a:p>
          <a:p xmlns:a="http://schemas.openxmlformats.org/drawingml/2006/main">
            <a:pPr>
              <a:defRPr sz="9150" b="1">
                <a:solidFill>
                  <a:srgbClr val="FFF4BD"/>
                </a:solidFill>
              </a:defRPr>
            </a:pPr>
            <a:r>
              <a:rPr sz="9150" b="1">
                <a:solidFill>
                  <a:srgbClr val="FFF4BD"/>
                </a:solidFill>
              </a:rPr>
              <a:t>收敛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ED49779-58F0-4F8B-96C2-2F7B2AB9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48400"/>
            <a:ext cx="971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E5B5">
                    <a:alpha val="92000"/>
                  </a:srgbClr>
                </a:solidFill>
              </a:defRPr>
            </a:pPr>
            <a:r>
              <a:rPr sz="2550" b="0">
                <a:solidFill>
                  <a:srgbClr val="FFE5B5">
                    <a:alpha val="92000"/>
                  </a:srgbClr>
                </a:solidFill>
              </a:rPr>
              <a:t>一个关于表达、误解与停止解释的叙事解谜游戏</a:t>
            </a:r>
          </a:p>
        </p:txBody>
      </p:sp>
      <p:sp>
        <p:nvSpPr>
          <p:cNvPr id="7" name="chip-白天：可验证问题">
            <a:extLst xmlns:a="http://schemas.openxmlformats.org/drawingml/2006/main">
              <a:ext uri="{FF2B5EF4-FFF2-40B4-BE49-F238E27FC236}">
                <a16:creationId xmlns:a16="http://schemas.microsoft.com/office/drawing/2014/main" id="{C146EF80-39CF-46E8-8361-AB770342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909435"/>
            <a:ext cx="1790700" cy="407670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9FD5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865C5-129D-4506-A2FB-E9764FE9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01040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FD56F"/>
                </a:solidFill>
              </a:defRPr>
            </a:pPr>
            <a:r>
              <a:rPr sz="1425" b="1">
                <a:solidFill>
                  <a:srgbClr val="9FD56F"/>
                </a:solidFill>
              </a:rPr>
              <a:t>白天：可验证问题</a:t>
            </a:r>
          </a:p>
        </p:txBody>
      </p:sp>
      <p:sp>
        <p:nvSpPr>
          <p:cNvPr id="9" name="chip-夜晚：关系误读">
            <a:extLst xmlns:a="http://schemas.openxmlformats.org/drawingml/2006/main">
              <a:ext uri="{FF2B5EF4-FFF2-40B4-BE49-F238E27FC236}">
                <a16:creationId xmlns:a16="http://schemas.microsoft.com/office/drawing/2014/main" id="{87787BEC-B7A3-4C27-9613-A2801683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909435"/>
            <a:ext cx="1609725" cy="407670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EF8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D72A5-3B72-4CCC-9EDC-5D02BB25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01040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F8AA8"/>
                </a:solidFill>
              </a:defRPr>
            </a:pPr>
            <a:r>
              <a:rPr sz="1425" b="1">
                <a:solidFill>
                  <a:srgbClr val="EF8AA8"/>
                </a:solidFill>
              </a:rPr>
              <a:t>夜晚：关系误读</a:t>
            </a:r>
          </a:p>
        </p:txBody>
      </p:sp>
      <p:sp>
        <p:nvSpPr>
          <p:cNvPr id="11" name="chip-结局：边界重构">
            <a:extLst xmlns:a="http://schemas.openxmlformats.org/drawingml/2006/main">
              <a:ext uri="{FF2B5EF4-FFF2-40B4-BE49-F238E27FC236}">
                <a16:creationId xmlns:a16="http://schemas.microsoft.com/office/drawing/2014/main" id="{49286CB9-3E6C-4615-ABAD-23E442E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909435"/>
            <a:ext cx="1609725" cy="407670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FFD3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C84B1-BDE2-480B-9945-B744B7C9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01040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D36C"/>
                </a:solidFill>
              </a:defRPr>
            </a:pPr>
            <a:r>
              <a:rPr sz="1425" b="1">
                <a:solidFill>
                  <a:srgbClr val="FFD36C"/>
                </a:solidFill>
              </a:rPr>
              <a:t>结局：边界重构</a:t>
            </a:r>
          </a:p>
        </p:txBody>
      </p:sp>
      <p:sp>
        <p:nvSpPr>
          <p:cNvPr id="13" name="cover-bottom">
            <a:extLst xmlns:a="http://schemas.openxmlformats.org/drawingml/2006/main">
              <a:ext uri="{FF2B5EF4-FFF2-40B4-BE49-F238E27FC236}">
                <a16:creationId xmlns:a16="http://schemas.microsoft.com/office/drawing/2014/main" id="{E11A39A0-0EBB-4695-8775-5C0D37FC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105900"/>
            <a:ext cx="1607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E6B1">
                    <a:alpha val="82000"/>
                  </a:srgbClr>
                </a:solidFill>
              </a:defRPr>
            </a:pPr>
            <a:r>
              <a:rPr sz="1800" b="0">
                <a:solidFill>
                  <a:srgbClr val="FFE6B1">
                    <a:alpha val="82000"/>
                  </a:srgbClr>
                </a:solidFill>
              </a:rPr>
              <a:t>作品主题 / 艺术形式 / 故事结构 / 视觉风格</a:t>
            </a:r>
          </a:p>
        </p:txBody>
      </p:sp>
    </p:spTree>
    <p:extLst>
      <p:ext uri="{BB962C8B-B14F-4D97-AF65-F5344CB8AC3E}">
        <p14:creationId xmlns:p14="http://schemas.microsoft.com/office/powerpoint/2010/main" val="21037232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9fb0211fe49e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43406aafc466b"/>
          <a:stretch xmlns:a="http://schemas.openxmlformats.org/drawingml/2006/main"/>
        </p:blipFill>
        <p:spPr>
          <a:xfrm xmlns:a="http://schemas.openxmlformats.org/drawingml/2006/main">
            <a:off x="9144000" y="0"/>
            <a:ext cx="9144000" cy="10287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E9B08-2213-4C3D-A333-E7ED1E50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C10">
              <a:alpha val="60000"/>
            </a:srgbClr>
          </a:solidFill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79A3757A-E707-4413-8ABA-895D69B0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01 / CORE IDEA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652312-FF02-4DA1-9E37-60DA0DD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95400"/>
            <a:ext cx="161544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核心思想：</a:t>
            </a:r>
          </a:p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能解决的问题会反馈，无法收敛的关系只会偏移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13876A-94D7-4386-9194-55FF2F83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1239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E5B1">
                    <a:alpha val="88000"/>
                  </a:srgbClr>
                </a:solidFill>
              </a:defRPr>
            </a:pPr>
            <a:r>
              <a:rPr sz="2250" b="0">
                <a:solidFill>
                  <a:srgbClr val="FFE5B1">
                    <a:alpha val="88000"/>
                  </a:srgbClr>
                </a:solidFill>
              </a:rPr>
              <a:t>游戏把“表达”设计成一个系统：白天给出明确输入和结果，夜晚则让解释不断被重新解释。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16588-1293-4654-9827-C1342203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91550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FD56F"/>
                </a:solidFill>
              </a:defRPr>
            </a:pPr>
            <a:r>
              <a:rPr sz="3000" b="1">
                <a:solidFill>
                  <a:srgbClr val="9FD56F"/>
                </a:solidFill>
              </a:rPr>
              <a:t>白天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B1B6A-C4C0-4EB3-B425-FEFE1871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63050"/>
            <a:ext cx="777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E6BB">
                    <a:alpha val="90000"/>
                  </a:srgbClr>
                </a:solidFill>
              </a:defRPr>
            </a:pPr>
            <a:r>
              <a:rPr sz="2025" b="0">
                <a:solidFill>
                  <a:srgbClr val="F5E6BB">
                    <a:alpha val="90000"/>
                  </a:srgbClr>
                </a:solidFill>
              </a:rPr>
              <a:t>问题可以拆分为步骤，可以验证，可以完成。玩家获得行动反馈。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53F4C-8DE9-40A4-BCE0-9A56ECA7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591550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F8AA8"/>
                </a:solidFill>
              </a:defRPr>
            </a:pPr>
            <a:r>
              <a:rPr sz="3000" b="1">
                <a:solidFill>
                  <a:srgbClr val="EF8AA8"/>
                </a:solidFill>
              </a:rPr>
              <a:t>夜晚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E0CEB-9E71-490C-82EC-D6945045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9163050"/>
            <a:ext cx="777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E6BB">
                    <a:alpha val="90000"/>
                  </a:srgbClr>
                </a:solidFill>
              </a:defRPr>
            </a:pPr>
            <a:r>
              <a:rPr sz="2025" b="0">
                <a:solidFill>
                  <a:srgbClr val="F5E6BB">
                    <a:alpha val="90000"/>
                  </a:srgbClr>
                </a:solidFill>
              </a:rPr>
              <a:t>误解没有单一答案。越解释，越可能被转译成新的压力。</a:t>
            </a:r>
          </a:p>
        </p:txBody>
      </p:sp>
    </p:spTree>
    <p:extLst>
      <p:ext uri="{BB962C8B-B14F-4D97-AF65-F5344CB8AC3E}">
        <p14:creationId xmlns:p14="http://schemas.microsoft.com/office/powerpoint/2010/main" val="17690085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-day4-presentation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2f13a9eba440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g-scrim">
            <a:extLst xmlns:a="http://schemas.openxmlformats.org/drawingml/2006/main">
              <a:ext uri="{FF2B5EF4-FFF2-40B4-BE49-F238E27FC236}">
                <a16:creationId xmlns:a16="http://schemas.microsoft.com/office/drawing/2014/main" id="{D50C6AF5-1A5A-4C36-ADC3-B5810F56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F11">
              <a:alpha val="72000"/>
            </a:srgbClr>
          </a:solidFill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E4B2695-60DA-4410-9776-B2FFB788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02 / STRUCTURE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2EBD3A-EEA8-4B2E-A80B-8D68211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6459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叙事结构：四天循环，两个世界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5310D3-62DA-4793-BEFF-FCF2DA5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123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E5B1">
                    <a:alpha val="88000"/>
                  </a:srgbClr>
                </a:solidFill>
              </a:defRPr>
            </a:pPr>
            <a:r>
              <a:rPr sz="2250" b="0">
                <a:solidFill>
                  <a:srgbClr val="FFE5B1">
                    <a:alpha val="88000"/>
                  </a:srgbClr>
                </a:solidFill>
              </a:rPr>
              <a:t>每一天都先处理现实问题，再进入同主题的人际误解。</a:t>
            </a:r>
          </a:p>
        </p:txBody>
      </p:sp>
      <p:sp>
        <p:nvSpPr>
          <p:cNvPr id="6" name="thumb-Day 1  修电脑网络">
            <a:extLst xmlns:a="http://schemas.openxmlformats.org/drawingml/2006/main">
              <a:ext uri="{FF2B5EF4-FFF2-40B4-BE49-F238E27FC236}">
                <a16:creationId xmlns:a16="http://schemas.microsoft.com/office/drawing/2014/main" id="{02EAEFBE-A3D0-412F-986B-1DC708FE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3986213" cy="2501265"/>
          </a:xfrm>
          <a:prstGeom xmlns:a="http://schemas.openxmlformats.org/drawingml/2006/main" prst="roundRect">
            <a:avLst>
              <a:gd name="adj" fmla="val 380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ed356e03e4126"/>
          <a:stretch xmlns:a="http://schemas.openxmlformats.org/drawingml/2006/main"/>
        </p:blipFill>
        <p:spPr>
          <a:xfrm xmlns:a="http://schemas.openxmlformats.org/drawingml/2006/main">
            <a:off x="914400" y="2876550"/>
            <a:ext cx="3986213" cy="250126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3F182-C6CA-49DA-A775-5F5F3221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3986213" cy="2501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CF941-E81F-40FD-A0A5-0CCB2F63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Day 1  修电脑网络</a:t>
            </a:r>
          </a:p>
        </p:txBody>
      </p:sp>
      <p:sp>
        <p:nvSpPr>
          <p:cNvPr id="10" name="thumb-Day 2  修改文档">
            <a:extLst xmlns:a="http://schemas.openxmlformats.org/drawingml/2006/main">
              <a:ext uri="{FF2B5EF4-FFF2-40B4-BE49-F238E27FC236}">
                <a16:creationId xmlns:a16="http://schemas.microsoft.com/office/drawing/2014/main" id="{DC4BB79C-28E0-4458-9707-30A96144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2876550"/>
            <a:ext cx="3986213" cy="2501265"/>
          </a:xfrm>
          <a:prstGeom xmlns:a="http://schemas.openxmlformats.org/drawingml/2006/main" prst="roundRect">
            <a:avLst>
              <a:gd name="adj" fmla="val 380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096adf80047d0"/>
          <a:stretch xmlns:a="http://schemas.openxmlformats.org/drawingml/2006/main"/>
        </p:blipFill>
        <p:spPr>
          <a:xfrm xmlns:a="http://schemas.openxmlformats.org/drawingml/2006/main">
            <a:off x="5072063" y="2876550"/>
            <a:ext cx="3986213" cy="250126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09AAC-426B-4BA1-8E18-871BA559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2876550"/>
            <a:ext cx="3986213" cy="2501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B2202-F8CD-436B-B236-7ACB3B0F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911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Day 2  修改文档</a:t>
            </a:r>
          </a:p>
        </p:txBody>
      </p:sp>
      <p:sp>
        <p:nvSpPr>
          <p:cNvPr id="14" name="thumb-Day 3  整理房间">
            <a:extLst xmlns:a="http://schemas.openxmlformats.org/drawingml/2006/main">
              <a:ext uri="{FF2B5EF4-FFF2-40B4-BE49-F238E27FC236}">
                <a16:creationId xmlns:a16="http://schemas.microsoft.com/office/drawing/2014/main" id="{3AE7B66D-3306-4564-A827-DFDF8731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76550"/>
            <a:ext cx="3986213" cy="2501265"/>
          </a:xfrm>
          <a:prstGeom xmlns:a="http://schemas.openxmlformats.org/drawingml/2006/main" prst="roundRect">
            <a:avLst>
              <a:gd name="adj" fmla="val 380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fea5b30074988"/>
          <a:stretch xmlns:a="http://schemas.openxmlformats.org/drawingml/2006/main"/>
        </p:blipFill>
        <p:spPr>
          <a:xfrm xmlns:a="http://schemas.openxmlformats.org/drawingml/2006/main">
            <a:off x="9229725" y="2876550"/>
            <a:ext cx="3986213" cy="250126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9CFA4-2800-4271-8588-92A141F5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76550"/>
            <a:ext cx="3986213" cy="2501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74AAD-78B1-4EC9-A8C0-D321220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911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Day 3  整理房间</a:t>
            </a:r>
          </a:p>
        </p:txBody>
      </p:sp>
      <p:sp>
        <p:nvSpPr>
          <p:cNvPr id="18" name="thumb-Day 4  准备汇报">
            <a:extLst xmlns:a="http://schemas.openxmlformats.org/drawingml/2006/main">
              <a:ext uri="{FF2B5EF4-FFF2-40B4-BE49-F238E27FC236}">
                <a16:creationId xmlns:a16="http://schemas.microsoft.com/office/drawing/2014/main" id="{0C2D8BAC-5306-4C94-AC3E-5A7A46A8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388" y="2876550"/>
            <a:ext cx="3986213" cy="2501265"/>
          </a:xfrm>
          <a:prstGeom xmlns:a="http://schemas.openxmlformats.org/drawingml/2006/main" prst="roundRect">
            <a:avLst>
              <a:gd name="adj" fmla="val 380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4d9fcfc9e4e45"/>
          <a:stretch xmlns:a="http://schemas.openxmlformats.org/drawingml/2006/main"/>
        </p:blipFill>
        <p:spPr>
          <a:xfrm xmlns:a="http://schemas.openxmlformats.org/drawingml/2006/main">
            <a:off x="13387388" y="2876550"/>
            <a:ext cx="3986213" cy="250126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66E1E-9C17-408E-ADA2-58F16336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388" y="2876550"/>
            <a:ext cx="3986213" cy="2501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38230-76E3-4CA7-84BA-A9F6741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9911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Day 4  准备汇报</a:t>
            </a:r>
          </a:p>
        </p:txBody>
      </p:sp>
      <p:sp>
        <p:nvSpPr>
          <p:cNvPr id="22" name="thumb-Night 1  家庭对话">
            <a:extLst xmlns:a="http://schemas.openxmlformats.org/drawingml/2006/main">
              <a:ext uri="{FF2B5EF4-FFF2-40B4-BE49-F238E27FC236}">
                <a16:creationId xmlns:a16="http://schemas.microsoft.com/office/drawing/2014/main" id="{200C0A88-BC44-4F6E-872B-8AC81ED2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9265"/>
            <a:ext cx="3986213" cy="2501265"/>
          </a:xfrm>
          <a:prstGeom xmlns:a="http://schemas.openxmlformats.org/drawingml/2006/main" prst="roundRect">
            <a:avLst>
              <a:gd name="adj" fmla="val 380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8fcab523c4466"/>
          <a:stretch xmlns:a="http://schemas.openxmlformats.org/drawingml/2006/main"/>
        </p:blipFill>
        <p:spPr>
          <a:xfrm xmlns:a="http://schemas.openxmlformats.org/drawingml/2006/main">
            <a:off x="914400" y="5549265"/>
            <a:ext cx="3986213" cy="250126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E2A92-0C29-4ACA-9A55-A3368F1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9265"/>
            <a:ext cx="3986213" cy="2501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F121A-A452-41D1-A2D5-AE05008C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581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Night 1  家庭对话</a:t>
            </a:r>
          </a:p>
        </p:txBody>
      </p:sp>
      <p:sp>
        <p:nvSpPr>
          <p:cNvPr id="26" name="thumb-Night 2  朋友聊天">
            <a:extLst xmlns:a="http://schemas.openxmlformats.org/drawingml/2006/main">
              <a:ext uri="{FF2B5EF4-FFF2-40B4-BE49-F238E27FC236}">
                <a16:creationId xmlns:a16="http://schemas.microsoft.com/office/drawing/2014/main" id="{7368B95A-C6E5-4AE7-9C4B-827B530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5549265"/>
            <a:ext cx="3986213" cy="2501265"/>
          </a:xfrm>
          <a:prstGeom xmlns:a="http://schemas.openxmlformats.org/drawingml/2006/main" prst="roundRect">
            <a:avLst>
              <a:gd name="adj" fmla="val 380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450e860e34ab2"/>
          <a:stretch xmlns:a="http://schemas.openxmlformats.org/drawingml/2006/main"/>
        </p:blipFill>
        <p:spPr>
          <a:xfrm xmlns:a="http://schemas.openxmlformats.org/drawingml/2006/main">
            <a:off x="5072063" y="5549265"/>
            <a:ext cx="3986213" cy="250126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3F93B-5DB1-4A45-8C9E-30C1952B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5549265"/>
            <a:ext cx="3986213" cy="2501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77E7C0-1779-466E-8A6A-177CE446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581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Night 2  朋友聊天</a:t>
            </a:r>
          </a:p>
        </p:txBody>
      </p:sp>
      <p:sp>
        <p:nvSpPr>
          <p:cNvPr id="30" name="thumb-Night 3  工作沟通">
            <a:extLst xmlns:a="http://schemas.openxmlformats.org/drawingml/2006/main">
              <a:ext uri="{FF2B5EF4-FFF2-40B4-BE49-F238E27FC236}">
                <a16:creationId xmlns:a16="http://schemas.microsoft.com/office/drawing/2014/main" id="{29766D52-8F66-4517-B733-9A594314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549265"/>
            <a:ext cx="3986213" cy="2501265"/>
          </a:xfrm>
          <a:prstGeom xmlns:a="http://schemas.openxmlformats.org/drawingml/2006/main" prst="roundRect">
            <a:avLst>
              <a:gd name="adj" fmla="val 380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2590dfc724cb9"/>
          <a:stretch xmlns:a="http://schemas.openxmlformats.org/drawingml/2006/main"/>
        </p:blipFill>
        <p:spPr>
          <a:xfrm xmlns:a="http://schemas.openxmlformats.org/drawingml/2006/main">
            <a:off x="9229725" y="5549265"/>
            <a:ext cx="3986213" cy="250126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B9D19-61F5-4493-AA7D-3C0B1AB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549265"/>
            <a:ext cx="3986213" cy="2501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0E6AB6-C0A0-43DF-BF3C-A2B97D6D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6581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Night 3  工作沟通</a:t>
            </a:r>
          </a:p>
        </p:txBody>
      </p:sp>
      <p:sp>
        <p:nvSpPr>
          <p:cNvPr id="34" name="thumb-Night 4  亲密关系">
            <a:extLst xmlns:a="http://schemas.openxmlformats.org/drawingml/2006/main">
              <a:ext uri="{FF2B5EF4-FFF2-40B4-BE49-F238E27FC236}">
                <a16:creationId xmlns:a16="http://schemas.microsoft.com/office/drawing/2014/main" id="{0E9382CB-8AEE-4061-8515-E3A4CC2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388" y="5549265"/>
            <a:ext cx="3986213" cy="2501265"/>
          </a:xfrm>
          <a:prstGeom xmlns:a="http://schemas.openxmlformats.org/drawingml/2006/main" prst="roundRect">
            <a:avLst>
              <a:gd name="adj" fmla="val 380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963b9622543ba"/>
          <a:stretch xmlns:a="http://schemas.openxmlformats.org/drawingml/2006/main"/>
        </p:blipFill>
        <p:spPr>
          <a:xfrm xmlns:a="http://schemas.openxmlformats.org/drawingml/2006/main">
            <a:off x="13387388" y="5549265"/>
            <a:ext cx="3986213" cy="2501265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E8607C-7764-4743-B9C1-CE9BDF8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388" y="5549265"/>
            <a:ext cx="3986213" cy="2501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05DC66-00AD-43A9-A56C-CFA871B4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6581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Night 4  亲密关系</a:t>
            </a:r>
          </a:p>
        </p:txBody>
      </p:sp>
      <p:sp>
        <p:nvSpPr>
          <p:cNvPr id="3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E19DF9-17F8-4C59-A315-540DEC0D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89535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C">
              <a:alpha val="68000"/>
            </a:srgbClr>
          </a:solidFill>
          <a:ln xmlns:a="http://schemas.openxmlformats.org/drawingml/2006/main" w="0">
            <a:solidFill>
              <a:srgbClr val="FFD36C">
                <a:alpha val="68000"/>
              </a:srgbClr>
            </a:solidFill>
            <a:prstDash val="solid"/>
          </a:ln>
        </p:spPr>
      </p:sp>
      <p:sp>
        <p:nvSpPr>
          <p:cNvPr id="3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35D2492-1665-42DE-A661-C7B22FA1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8858250"/>
            <a:ext cx="417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E2A5">
                    <a:alpha val="78000"/>
                  </a:srgbClr>
                </a:solidFill>
              </a:defRPr>
            </a:pPr>
            <a:r>
              <a:rPr sz="1425" b="0">
                <a:solidFill>
                  <a:srgbClr val="FFE2A5">
                    <a:alpha val="78000"/>
                  </a:srgbClr>
                </a:solidFill>
              </a:rPr>
              <a:t>白天推进秩序，夜晚暴露偏移；循环本身就是主题。</a:t>
            </a:r>
          </a:p>
        </p:txBody>
      </p:sp>
    </p:spTree>
    <p:extLst>
      <p:ext uri="{BB962C8B-B14F-4D97-AF65-F5344CB8AC3E}">
        <p14:creationId xmlns:p14="http://schemas.microsoft.com/office/powerpoint/2010/main" val="13736989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-night2-friend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9a926c2cd477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g-scrim">
            <a:extLst xmlns:a="http://schemas.openxmlformats.org/drawingml/2006/main">
              <a:ext uri="{FF2B5EF4-FFF2-40B4-BE49-F238E27FC236}">
                <a16:creationId xmlns:a16="http://schemas.microsoft.com/office/drawing/2014/main" id="{B88F7538-E4DF-4F62-88F3-5BD36AB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8">
              <a:alpha val="72000"/>
            </a:srgbClr>
          </a:solidFill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4980284-1277-4D0C-A427-C9BA5705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1050"/>
            <a:ext cx="1623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03 / STORY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21B8C1-14B5-4FA8-BCC5-8D2EE52E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16230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故事内容：不是寻找真相，而是观察解释如何失效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7D71D-7534-4259-9108-3403C485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0D659-684E-4955-A25C-EC8786D0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7067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FD56F"/>
                </a:solidFill>
              </a:defRPr>
            </a:pPr>
            <a:r>
              <a:rPr sz="3150" b="1">
                <a:solidFill>
                  <a:srgbClr val="9FD56F"/>
                </a:solidFill>
              </a:rPr>
              <a:t>白天的四个问题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01BBE-E810-4190-ADCD-9B33D0C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70675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3C3"/>
                </a:solidFill>
              </a:defRPr>
            </a:pPr>
            <a:r>
              <a:rPr sz="3000" b="1">
                <a:solidFill>
                  <a:srgbClr val="FFF3C3"/>
                </a:solidFill>
              </a:rPr>
              <a:t>网络断开</a:t>
            </a:r>
          </a:p>
          <a:p xmlns:a="http://schemas.openxmlformats.org/drawingml/2006/main">
            <a:pPr>
              <a:defRPr sz="3000" b="1">
                <a:solidFill>
                  <a:srgbClr val="FFF3C3"/>
                </a:solidFill>
              </a:defRPr>
            </a:pPr>
            <a:r>
              <a:rPr sz="3000" b="1">
                <a:solidFill>
                  <a:srgbClr val="FFF3C3"/>
                </a:solidFill>
              </a:rPr>
              <a:t>文档混乱</a:t>
            </a:r>
          </a:p>
          <a:p xmlns:a="http://schemas.openxmlformats.org/drawingml/2006/main">
            <a:pPr>
              <a:defRPr sz="3000" b="1">
                <a:solidFill>
                  <a:srgbClr val="FFF3C3"/>
                </a:solidFill>
              </a:defRPr>
            </a:pPr>
            <a:r>
              <a:rPr sz="3000" b="1">
                <a:solidFill>
                  <a:srgbClr val="FFF3C3"/>
                </a:solidFill>
              </a:rPr>
              <a:t>房间失序</a:t>
            </a:r>
          </a:p>
          <a:p xmlns:a="http://schemas.openxmlformats.org/drawingml/2006/main">
            <a:pPr>
              <a:defRPr sz="3000" b="1">
                <a:solidFill>
                  <a:srgbClr val="FFF3C3"/>
                </a:solidFill>
              </a:defRPr>
            </a:pPr>
            <a:r>
              <a:rPr sz="3000" b="1">
                <a:solidFill>
                  <a:srgbClr val="FFF3C3"/>
                </a:solidFill>
              </a:rPr>
              <a:t>汇报未成形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5D54-0ADA-4716-B206-270EFD82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81650"/>
            <a:ext cx="7067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E6B9">
                    <a:alpha val="88000"/>
                  </a:srgbClr>
                </a:solidFill>
              </a:defRPr>
            </a:pPr>
            <a:r>
              <a:rPr sz="2025" b="0">
                <a:solidFill>
                  <a:srgbClr val="FFE6B9">
                    <a:alpha val="88000"/>
                  </a:srgbClr>
                </a:solidFill>
              </a:rPr>
              <a:t>它们都能被拆成动作：检查、整理、归位、练习。完成后世界变稳定。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9D5D0-B8F5-4CE0-A8B2-70FE50C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8305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F8AA8"/>
                </a:solidFill>
              </a:defRPr>
            </a:pPr>
            <a:r>
              <a:rPr sz="3150" b="1">
                <a:solidFill>
                  <a:srgbClr val="EF8AA8"/>
                </a:solidFill>
              </a:rPr>
              <a:t>夜晚的四段关系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9D49D-DFD7-4EAE-93FA-ACD6E665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83058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E6B3"/>
                </a:solidFill>
              </a:defRPr>
            </a:pPr>
            <a:r>
              <a:rPr sz="2550" b="1">
                <a:solidFill>
                  <a:srgbClr val="FFE6B3"/>
                </a:solidFill>
              </a:rPr>
              <a:t>家人把疲惫听成指责</a:t>
            </a:r>
          </a:p>
          <a:p xmlns:a="http://schemas.openxmlformats.org/drawingml/2006/main">
            <a:pPr>
              <a:defRPr sz="2550" b="1">
                <a:solidFill>
                  <a:srgbClr val="FFE6B3"/>
                </a:solidFill>
              </a:defRPr>
            </a:pPr>
            <a:r>
              <a:rPr sz="2550" b="1">
                <a:solidFill>
                  <a:srgbClr val="FFE6B3"/>
                </a:solidFill>
              </a:rPr>
              <a:t>朋友把休息听成疏远</a:t>
            </a:r>
          </a:p>
          <a:p xmlns:a="http://schemas.openxmlformats.org/drawingml/2006/main">
            <a:pPr>
              <a:defRPr sz="2550" b="1">
                <a:solidFill>
                  <a:srgbClr val="FFE6B3"/>
                </a:solidFill>
              </a:defRPr>
            </a:pPr>
            <a:r>
              <a:rPr sz="2550" b="1">
                <a:solidFill>
                  <a:srgbClr val="FFE6B3"/>
                </a:solidFill>
              </a:rPr>
              <a:t>同事把风险听成否定</a:t>
            </a:r>
          </a:p>
          <a:p xmlns:a="http://schemas.openxmlformats.org/drawingml/2006/main">
            <a:pPr>
              <a:defRPr sz="2550" b="1">
                <a:solidFill>
                  <a:srgbClr val="FFE6B3"/>
                </a:solidFill>
              </a:defRPr>
            </a:pPr>
            <a:r>
              <a:rPr sz="2550" b="1">
                <a:solidFill>
                  <a:srgbClr val="FFE6B3"/>
                </a:solidFill>
              </a:rPr>
              <a:t>亲密关系把边界听成冷淡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2325A-2D11-42E6-BF8D-A586AB1F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95900"/>
            <a:ext cx="830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E6B9">
                    <a:alpha val="88000"/>
                  </a:srgbClr>
                </a:solidFill>
              </a:defRPr>
            </a:pPr>
            <a:r>
              <a:rPr sz="2025" b="0">
                <a:solidFill>
                  <a:srgbClr val="FFE6B9">
                    <a:alpha val="88000"/>
                  </a:srgbClr>
                </a:solidFill>
              </a:rPr>
              <a:t>玩家的核心体验不是“说服成功”，而是感到语言被不断改写。</a:t>
            </a:r>
          </a:p>
        </p:txBody>
      </p:sp>
    </p:spTree>
    <p:extLst>
      <p:ext uri="{BB962C8B-B14F-4D97-AF65-F5344CB8AC3E}">
        <p14:creationId xmlns:p14="http://schemas.microsoft.com/office/powerpoint/2010/main" val="14167843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-night3-work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623eaa0d5406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g-scrim">
            <a:extLst xmlns:a="http://schemas.openxmlformats.org/drawingml/2006/main">
              <a:ext uri="{FF2B5EF4-FFF2-40B4-BE49-F238E27FC236}">
                <a16:creationId xmlns:a16="http://schemas.microsoft.com/office/drawing/2014/main" id="{256E6965-6464-4626-84C4-DE87C72D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C16">
              <a:alpha val="76000"/>
            </a:srgbClr>
          </a:solidFill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CE452E1-76A5-4759-ADAB-4019E863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04 / MECHANICS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B42948-C642-4968-B0E4-DCEB1643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6459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系统设计：选择不是正确答案，而是代价分配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A35C72-25E6-4890-B663-46B9FC75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123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E5B1">
                    <a:alpha val="88000"/>
                  </a:srgbClr>
                </a:solidFill>
              </a:defRPr>
            </a:pPr>
            <a:r>
              <a:rPr sz="2250" b="0">
                <a:solidFill>
                  <a:srgbClr val="FFE5B1">
                    <a:alpha val="88000"/>
                  </a:srgbClr>
                </a:solidFill>
              </a:rPr>
              <a:t>三类夜晚选择分别改变清晰度、理解率、解释成本和自我保留度。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9E282-9CB0-4AED-8E87-F56D7E6A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8843772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62518">
              <a:alpha val="72000"/>
            </a:srgbClr>
          </a:solidFill>
          <a:ln xmlns:a="http://schemas.openxmlformats.org/drawingml/2006/main" w="19050">
            <a:solidFill>
              <a:srgbClr val="FFD36C">
                <a:alpha val="4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1EE1B-6102-4A5F-8292-7EFE0E1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826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D36C"/>
                </a:solidFill>
              </a:defRPr>
            </a:pPr>
            <a:r>
              <a:rPr sz="2325" b="1">
                <a:solidFill>
                  <a:srgbClr val="FFD36C"/>
                </a:solidFill>
              </a:rPr>
              <a:t>更详细地解释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00D33-B142-46E7-8669-F66C2D05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2C2"/>
                </a:solidFill>
              </a:defRPr>
            </a:pPr>
            <a:r>
              <a:rPr sz="1800" b="0">
                <a:solidFill>
                  <a:srgbClr val="FFF2C2"/>
                </a:solidFill>
              </a:rPr>
              <a:t>清晰度上升，但成本变高；对方可能把原因听成责备。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A7373-6DAA-4F7E-B166-47612ACC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8843772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62536">
              <a:alpha val="72000"/>
            </a:srgbClr>
          </a:solidFill>
          <a:ln xmlns:a="http://schemas.openxmlformats.org/drawingml/2006/main" w="19050">
            <a:solidFill>
              <a:srgbClr val="EF8AA8">
                <a:alpha val="5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0EEBC-30CB-425E-9D2E-E4A65C28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826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F8AA8"/>
                </a:solidFill>
              </a:defRPr>
            </a:pPr>
            <a:r>
              <a:rPr sz="2325" b="1">
                <a:solidFill>
                  <a:srgbClr val="EF8AA8"/>
                </a:solidFill>
              </a:rPr>
              <a:t>更委婉地表达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EA884-EE22-4E1C-B0D9-1EC70B57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2C2"/>
                </a:solidFill>
              </a:defRPr>
            </a:pPr>
            <a:r>
              <a:rPr sz="1800" b="0">
                <a:solidFill>
                  <a:srgbClr val="FFF2C2"/>
                </a:solidFill>
              </a:rPr>
              <a:t>冲突感降低，但误解会从新的入口进入。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87505-940E-438B-B683-C2D67574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8843772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64932">
              <a:alpha val="70000"/>
            </a:srgbClr>
          </a:solidFill>
          <a:ln xmlns:a="http://schemas.openxmlformats.org/drawingml/2006/main" w="19050">
            <a:solidFill>
              <a:srgbClr val="9FD56F">
                <a:alpha val="5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C14F8-4634-40A7-BEF3-8AEDC8CD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57900"/>
            <a:ext cx="8267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FD56F"/>
                </a:solidFill>
              </a:defRPr>
            </a:pPr>
            <a:r>
              <a:rPr sz="2325" b="1">
                <a:solidFill>
                  <a:srgbClr val="9FD56F"/>
                </a:solidFill>
              </a:rPr>
              <a:t>暂停解释，保护自己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EA31E-5FAF-4576-B61F-3513D0F2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55320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2C2"/>
                </a:solidFill>
              </a:defRPr>
            </a:pPr>
            <a:r>
              <a:rPr sz="1800" b="0">
                <a:solidFill>
                  <a:srgbClr val="FFF2C2"/>
                </a:solidFill>
              </a:rPr>
              <a:t>不立刻修复关系，但停止把自我交给证明。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DC6FF-61C2-4434-BBD6-B155B982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52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2C2"/>
                </a:solidFill>
              </a:defRPr>
            </a:pPr>
            <a:r>
              <a:rPr sz="1800" b="1">
                <a:solidFill>
                  <a:srgbClr val="FFF2C2"/>
                </a:solidFill>
              </a:rPr>
              <a:t>表达清晰度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BFCEC-EE06-4559-8E32-14010FF8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4019550"/>
            <a:ext cx="228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ECBFF"/>
                </a:solidFill>
              </a:defRPr>
            </a:pPr>
            <a:r>
              <a:rPr sz="1800" b="1">
                <a:solidFill>
                  <a:srgbClr val="7ECBFF"/>
                </a:solidFill>
              </a:rPr>
              <a:t>65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89615-D31F-408B-A19C-5FD62BB8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48200"/>
            <a:ext cx="6934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000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3F23E-ACF0-4C85-97A4-C1D9C0FA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48200"/>
            <a:ext cx="38385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CB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A1727-EE9F-4A63-8116-4907DA8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1816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2C2"/>
                </a:solidFill>
              </a:defRPr>
            </a:pPr>
            <a:r>
              <a:rPr sz="1800" b="1">
                <a:solidFill>
                  <a:srgbClr val="FFF2C2"/>
                </a:solidFill>
              </a:rPr>
              <a:t>对方理解率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BAE13-5BC3-463F-81B8-12EBD104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5048250"/>
            <a:ext cx="228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FD56F"/>
                </a:solidFill>
              </a:defRPr>
            </a:pPr>
            <a:r>
              <a:rPr sz="1800" b="1">
                <a:solidFill>
                  <a:srgbClr val="9FD56F"/>
                </a:solidFill>
              </a:rPr>
              <a:t>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7B134-A141-464E-A68E-42316BCE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15000"/>
            <a:ext cx="6934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000"/>
            </a:srgbClr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3FFEE-D4A2-4D81-8A77-742F9AF8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15000"/>
            <a:ext cx="2476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D56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07FC8-8CCB-4D84-851B-ADEA8457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229350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2C2"/>
                </a:solidFill>
              </a:defRPr>
            </a:pPr>
            <a:r>
              <a:rPr sz="1800" b="1">
                <a:solidFill>
                  <a:srgbClr val="FFF2C2"/>
                </a:solidFill>
              </a:rPr>
              <a:t>解释成本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B10E8-D7F0-4217-8DE5-C068B91E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096000"/>
            <a:ext cx="228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8B70"/>
                </a:solidFill>
              </a:defRPr>
            </a:pPr>
            <a:r>
              <a:rPr sz="1800" b="1">
                <a:solidFill>
                  <a:srgbClr val="F38B70"/>
                </a:solidFill>
              </a:rPr>
              <a:t>80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A94263-7C14-43AF-8426-9FC7D2F9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05600"/>
            <a:ext cx="6934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000"/>
            </a:srgbClr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9F2C7-E540-4969-8E5B-B68FF83A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05600"/>
            <a:ext cx="4724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8B7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41ADC-1FA5-4AD6-8B0A-4676668B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72771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2C2"/>
                </a:solidFill>
              </a:defRPr>
            </a:pPr>
            <a:r>
              <a:rPr sz="1800" b="1">
                <a:solidFill>
                  <a:srgbClr val="FFF2C2"/>
                </a:solidFill>
              </a:rPr>
              <a:t>自我保留度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A2A7C-74DE-4217-9EC3-00853F34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7143750"/>
            <a:ext cx="228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36C"/>
                </a:solidFill>
              </a:defRPr>
            </a:pPr>
            <a:r>
              <a:rPr sz="1800" b="1">
                <a:solidFill>
                  <a:srgbClr val="FFD36C"/>
                </a:solidFill>
              </a:rPr>
              <a:t>38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FE21E-E974-4781-953D-BF39E1D5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772400"/>
            <a:ext cx="6934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000"/>
            </a:srgbClr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92769-0A93-4D73-BB8D-A8C81513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772400"/>
            <a:ext cx="22479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6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AAFD7-0904-4F46-9B82-3729EF73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817245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ECBC">
                    <a:alpha val="92000"/>
                  </a:srgbClr>
                </a:solidFill>
              </a:defRPr>
            </a:pPr>
            <a:r>
              <a:rPr sz="1950" b="1">
                <a:solidFill>
                  <a:srgbClr val="FFECBC">
                    <a:alpha val="92000"/>
                  </a:srgbClr>
                </a:solidFill>
              </a:rPr>
              <a:t>结局由这些指标共同决定：无限解释、沉默系统、边界重构。</a:t>
            </a:r>
          </a:p>
        </p:txBody>
      </p:sp>
    </p:spTree>
    <p:extLst>
      <p:ext uri="{BB962C8B-B14F-4D97-AF65-F5344CB8AC3E}">
        <p14:creationId xmlns:p14="http://schemas.microsoft.com/office/powerpoint/2010/main" val="6887273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-star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5884214534c4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g-scrim">
            <a:extLst xmlns:a="http://schemas.openxmlformats.org/drawingml/2006/main">
              <a:ext uri="{FF2B5EF4-FFF2-40B4-BE49-F238E27FC236}">
                <a16:creationId xmlns:a16="http://schemas.microsoft.com/office/drawing/2014/main" id="{2894DC85-2DBF-49C9-B1ED-A519ED70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F10">
              <a:alpha val="76000"/>
            </a:srgbClr>
          </a:solidFill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B8C846D-2E9F-475B-AC3E-D64597D6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05 / ART FORM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E32685-A137-4443-8DAE-39C1F798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6154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艺术形式：轻量网页游戏，把浏览器变成舞台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89255-C56C-4756-B95D-B1790711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691C4-B3F6-4B63-8385-7090A715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362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D36C"/>
                </a:solidFill>
              </a:defRPr>
            </a:pPr>
            <a:r>
              <a:rPr sz="4350" b="1">
                <a:solidFill>
                  <a:srgbClr val="FFD36C"/>
                </a:solidFill>
              </a:rPr>
              <a:t>原生 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ABC6A-5AA5-4F06-B97C-A9B0E72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8362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FD56F"/>
                </a:solidFill>
              </a:defRPr>
            </a:pPr>
            <a:r>
              <a:rPr sz="4350" b="1">
                <a:solidFill>
                  <a:srgbClr val="9FD56F"/>
                </a:solidFill>
              </a:rPr>
              <a:t>+ CSS 响应式画布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6B8DD-5DB4-4610-88BD-20083A0E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86500"/>
            <a:ext cx="8362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F8AA8"/>
                </a:solidFill>
              </a:defRPr>
            </a:pPr>
            <a:r>
              <a:rPr sz="4350" b="1">
                <a:solidFill>
                  <a:srgbClr val="EF8AA8"/>
                </a:solidFill>
              </a:rPr>
              <a:t>+ JavaScript 状态机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749CE-7221-4362-A707-950CEFA1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77100"/>
            <a:ext cx="8362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7ECBFF"/>
                </a:solidFill>
              </a:defRPr>
            </a:pPr>
            <a:r>
              <a:rPr sz="4350" b="1">
                <a:solidFill>
                  <a:srgbClr val="7ECBFF"/>
                </a:solidFill>
              </a:rPr>
              <a:t>+ Canvas 2D 绘制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F5635-15CC-4305-AE11-5858149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881" y="2752725"/>
            <a:ext cx="7124319" cy="6753225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FFE0A3">
              <a:alpha val="10000"/>
            </a:srgbClr>
          </a:solidFill>
          <a:ln xmlns:a="http://schemas.openxmlformats.org/drawingml/2006/main" w="19050">
            <a:solidFill>
              <a:srgbClr val="FFD36C">
                <a:alpha val="3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611E9-70CD-40F2-B428-C1FFCDDC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00650"/>
            <a:ext cx="6362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2C2"/>
                </a:solidFill>
              </a:defRPr>
            </a:pPr>
            <a:r>
              <a:rPr sz="2700" b="1">
                <a:solidFill>
                  <a:srgbClr val="FFF2C2"/>
                </a:solidFill>
              </a:rPr>
              <a:t>形式服务主题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E35F2-0748-4E8E-B087-E15BB7C5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29300"/>
            <a:ext cx="6362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E8BB">
                    <a:alpha val="90000"/>
                  </a:srgbClr>
                </a:solidFill>
              </a:defRPr>
            </a:pPr>
            <a:r>
              <a:rPr sz="2175" b="0">
                <a:solidFill>
                  <a:srgbClr val="FFE8BB">
                    <a:alpha val="90000"/>
                  </a:srgbClr>
                </a:solidFill>
              </a:rPr>
              <a:t>没有复杂操作、没有战斗系统，只有点击选择和数值反馈。玩家被迫关注语言本身的偏移。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AD8EC-401A-4FF7-8A37-B6CA3116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24650"/>
            <a:ext cx="6362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E8BB">
                    <a:alpha val="90000"/>
                  </a:srgbClr>
                </a:solidFill>
              </a:defRPr>
            </a:pPr>
            <a:r>
              <a:rPr sz="2175" b="0">
                <a:solidFill>
                  <a:srgbClr val="FFE8BB">
                    <a:alpha val="90000"/>
                  </a:srgbClr>
                </a:solidFill>
              </a:rPr>
              <a:t>轻量网页也方便部署、分享和课堂/展览现场演示。</a:t>
            </a:r>
          </a:p>
        </p:txBody>
      </p:sp>
    </p:spTree>
    <p:extLst>
      <p:ext uri="{BB962C8B-B14F-4D97-AF65-F5344CB8AC3E}">
        <p14:creationId xmlns:p14="http://schemas.microsoft.com/office/powerpoint/2010/main" val="4689054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444FA-0594-4C9B-A4A2-D64FC0F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1D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A9E1576-D048-42E0-89B3-85130C0B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06 / VISUAL STYLE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60DD7E-6699-4E96-B5B5-98EA46E2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16459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画风：像素化生活场景 + 复古对话 UI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37A017E-589A-4D9D-BBAB-0D901474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123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E5B1">
                    <a:alpha val="88000"/>
                  </a:srgbClr>
                </a:solidFill>
              </a:defRPr>
            </a:pPr>
            <a:r>
              <a:rPr sz="2250" b="0">
                <a:solidFill>
                  <a:srgbClr val="FFE5B1">
                    <a:alpha val="88000"/>
                  </a:srgbClr>
                </a:solidFill>
              </a:rPr>
              <a:t>画面不是为了写实，而是把日常经验压缩成可识别的情绪空间。</a:t>
            </a:r>
          </a:p>
        </p:txBody>
      </p:sp>
      <p:sp>
        <p:nvSpPr>
          <p:cNvPr id="5" name="thumb-暖色白天：秩序与行动">
            <a:extLst xmlns:a="http://schemas.openxmlformats.org/drawingml/2006/main">
              <a:ext uri="{FF2B5EF4-FFF2-40B4-BE49-F238E27FC236}">
                <a16:creationId xmlns:a16="http://schemas.microsoft.com/office/drawing/2014/main" id="{5B29B1E6-1883-4ABB-9F69-6257AEA1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472321" cy="49530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e10e4f8a04108"/>
          <a:stretch xmlns:a="http://schemas.openxmlformats.org/drawingml/2006/main"/>
        </p:blipFill>
        <p:spPr>
          <a:xfrm xmlns:a="http://schemas.openxmlformats.org/drawingml/2006/main">
            <a:off x="914400" y="2857500"/>
            <a:ext cx="6472321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4CCA1-707E-4263-B82E-8FB70589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472321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FF8F-D8C4-4F46-AB33-37B5A262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10450"/>
            <a:ext cx="6134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暖色白天：秩序与行动</a:t>
            </a:r>
          </a:p>
        </p:txBody>
      </p:sp>
      <p:sp>
        <p:nvSpPr>
          <p:cNvPr id="9" name="thumb-冷紫夜晚：不安与防御">
            <a:extLst xmlns:a="http://schemas.openxmlformats.org/drawingml/2006/main">
              <a:ext uri="{FF2B5EF4-FFF2-40B4-BE49-F238E27FC236}">
                <a16:creationId xmlns:a16="http://schemas.microsoft.com/office/drawing/2014/main" id="{68D9B9CF-7F0B-4B09-A93F-1FFA1609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271" y="2857500"/>
            <a:ext cx="4783889" cy="4953000"/>
          </a:xfrm>
          <a:prstGeom xmlns:a="http://schemas.openxmlformats.org/drawingml/2006/main" prst="roundRect">
            <a:avLst>
              <a:gd name="adj" fmla="val 199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5e38c15954efa"/>
          <a:stretch xmlns:a="http://schemas.openxmlformats.org/drawingml/2006/main"/>
        </p:blipFill>
        <p:spPr>
          <a:xfrm xmlns:a="http://schemas.openxmlformats.org/drawingml/2006/main">
            <a:off x="7596271" y="2857500"/>
            <a:ext cx="4783889" cy="4953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1E4CA-510D-499C-848A-DA087786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271" y="2857500"/>
            <a:ext cx="4783889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53DE6-3047-4BE4-AFC0-98C772C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41045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冷紫夜晚：不安与防御</a:t>
            </a:r>
          </a:p>
        </p:txBody>
      </p:sp>
      <p:sp>
        <p:nvSpPr>
          <p:cNvPr id="13" name="thumb-结局空间：余波与停顿">
            <a:extLst xmlns:a="http://schemas.openxmlformats.org/drawingml/2006/main">
              <a:ext uri="{FF2B5EF4-FFF2-40B4-BE49-F238E27FC236}">
                <a16:creationId xmlns:a16="http://schemas.microsoft.com/office/drawing/2014/main" id="{17317ADB-E821-4318-9635-C2BADCD5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711" y="2857500"/>
            <a:ext cx="4783889" cy="4953000"/>
          </a:xfrm>
          <a:prstGeom xmlns:a="http://schemas.openxmlformats.org/drawingml/2006/main" prst="roundRect">
            <a:avLst>
              <a:gd name="adj" fmla="val 199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b872aa9834c82"/>
          <a:stretch xmlns:a="http://schemas.openxmlformats.org/drawingml/2006/main"/>
        </p:blipFill>
        <p:spPr>
          <a:xfrm xmlns:a="http://schemas.openxmlformats.org/drawingml/2006/main">
            <a:off x="12589711" y="2857500"/>
            <a:ext cx="4783889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05738-74F5-4D8A-8CF0-5F18C9F0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711" y="2857500"/>
            <a:ext cx="4783889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E0F">
              <a:alpha val="34000"/>
            </a:srgbClr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28A72-A0A9-4A27-81D8-E3A2212C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41045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36C"/>
                </a:solidFill>
              </a:defRPr>
            </a:pPr>
            <a:r>
              <a:rPr sz="1575" b="1">
                <a:solidFill>
                  <a:srgbClr val="FFD36C"/>
                </a:solidFill>
              </a:rPr>
              <a:t>结局空间：余波与停顿</a:t>
            </a:r>
          </a:p>
        </p:txBody>
      </p:sp>
      <p:sp>
        <p:nvSpPr>
          <p:cNvPr id="17" name="chip-像素颗粒">
            <a:extLst xmlns:a="http://schemas.openxmlformats.org/drawingml/2006/main">
              <a:ext uri="{FF2B5EF4-FFF2-40B4-BE49-F238E27FC236}">
                <a16:creationId xmlns:a16="http://schemas.microsoft.com/office/drawing/2014/main" id="{D65E14C9-4D86-4FB2-AFC5-CB2E4AF0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29600"/>
            <a:ext cx="10668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FFD3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0E788-AA4C-4F9B-B40D-835BC0B2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324850"/>
            <a:ext cx="72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D36C"/>
                </a:solidFill>
              </a:defRPr>
            </a:pPr>
            <a:r>
              <a:rPr sz="1425" b="1">
                <a:solidFill>
                  <a:srgbClr val="FFD36C"/>
                </a:solidFill>
              </a:rPr>
              <a:t>像素颗粒</a:t>
            </a:r>
          </a:p>
        </p:txBody>
      </p:sp>
      <p:sp>
        <p:nvSpPr>
          <p:cNvPr id="19" name="chip-低饱和背景">
            <a:extLst xmlns:a="http://schemas.openxmlformats.org/drawingml/2006/main">
              <a:ext uri="{FF2B5EF4-FFF2-40B4-BE49-F238E27FC236}">
                <a16:creationId xmlns:a16="http://schemas.microsoft.com/office/drawing/2014/main" id="{5C1A5010-EF59-4864-B688-7FE2DBE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8229600"/>
            <a:ext cx="1247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F0CB8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72802-C54E-466D-B250-A6144BE9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8324850"/>
            <a:ext cx="91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CB89"/>
                </a:solidFill>
              </a:defRPr>
            </a:pPr>
            <a:r>
              <a:rPr sz="1425" b="1">
                <a:solidFill>
                  <a:srgbClr val="F0CB89"/>
                </a:solidFill>
              </a:rPr>
              <a:t>低饱和背景</a:t>
            </a:r>
          </a:p>
        </p:txBody>
      </p:sp>
      <p:sp>
        <p:nvSpPr>
          <p:cNvPr id="21" name="chip-高对比 UI">
            <a:extLst xmlns:a="http://schemas.openxmlformats.org/drawingml/2006/main">
              <a:ext uri="{FF2B5EF4-FFF2-40B4-BE49-F238E27FC236}">
                <a16:creationId xmlns:a16="http://schemas.microsoft.com/office/drawing/2014/main" id="{13EE7B36-AB29-4DB3-90B2-AF889196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8134350"/>
            <a:ext cx="1093184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FFF2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1C8E3-89B6-4505-9CDD-93081169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8229600"/>
            <a:ext cx="742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2C2"/>
                </a:solidFill>
              </a:defRPr>
            </a:pPr>
            <a:r>
              <a:rPr sz="1425" b="1">
                <a:solidFill>
                  <a:srgbClr val="FFF2C2"/>
                </a:solidFill>
              </a:rPr>
              <a:t>高对比 UI</a:t>
            </a:r>
          </a:p>
        </p:txBody>
      </p:sp>
      <p:sp>
        <p:nvSpPr>
          <p:cNvPr id="23" name="chip-人物头像符号化">
            <a:extLst xmlns:a="http://schemas.openxmlformats.org/drawingml/2006/main">
              <a:ext uri="{FF2B5EF4-FFF2-40B4-BE49-F238E27FC236}">
                <a16:creationId xmlns:a16="http://schemas.microsoft.com/office/drawing/2014/main" id="{EEAF64A5-A70F-4AE5-BC4C-F3F58BEE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509" y="8229600"/>
            <a:ext cx="160972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EF8A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81B07-E499-473C-8973-7FE34E7D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32485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F8AA8"/>
                </a:solidFill>
              </a:defRPr>
            </a:pPr>
            <a:r>
              <a:rPr sz="1425" b="1">
                <a:solidFill>
                  <a:srgbClr val="EF8AA8"/>
                </a:solidFill>
              </a:rPr>
              <a:t>人物头像符号化</a:t>
            </a:r>
          </a:p>
        </p:txBody>
      </p:sp>
      <p:sp>
        <p:nvSpPr>
          <p:cNvPr id="25" name="chip-扫描线与抖动感">
            <a:extLst xmlns:a="http://schemas.openxmlformats.org/drawingml/2006/main">
              <a:ext uri="{FF2B5EF4-FFF2-40B4-BE49-F238E27FC236}">
                <a16:creationId xmlns:a16="http://schemas.microsoft.com/office/drawing/2014/main" id="{ED6734EA-4EC8-477D-A105-BE6A9CD1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684" y="8229600"/>
            <a:ext cx="160972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7EC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B05DC-414A-43DF-958C-4F68DE2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832485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ECBFF"/>
                </a:solidFill>
              </a:defRPr>
            </a:pPr>
            <a:r>
              <a:rPr sz="1425" b="1">
                <a:solidFill>
                  <a:srgbClr val="7ECBFF"/>
                </a:solidFill>
              </a:rPr>
              <a:t>扫描线与抖动感</a:t>
            </a:r>
          </a:p>
        </p:txBody>
      </p:sp>
    </p:spTree>
    <p:extLst>
      <p:ext uri="{BB962C8B-B14F-4D97-AF65-F5344CB8AC3E}">
        <p14:creationId xmlns:p14="http://schemas.microsoft.com/office/powerpoint/2010/main" val="6896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-night1-family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81d569bd444a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g-scrim">
            <a:extLst xmlns:a="http://schemas.openxmlformats.org/drawingml/2006/main">
              <a:ext uri="{FF2B5EF4-FFF2-40B4-BE49-F238E27FC236}">
                <a16:creationId xmlns:a16="http://schemas.microsoft.com/office/drawing/2014/main" id="{40D9E9D4-D400-4B8C-9175-6C08E714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C19">
              <a:alpha val="76000"/>
            </a:srgbClr>
          </a:solidFill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2964966-B50C-46C1-896D-AA33F847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07 / AUDIO &amp; RHYTHM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D9CFF6-904E-498F-B787-658B1E73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76350"/>
            <a:ext cx="16154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声音与节奏：让玩家在昼夜之间换气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F24DB-CA38-42C0-B0E1-CDA41EE0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EABAE-D92B-49D6-94A6-2428606C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7696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D36C"/>
                </a:solidFill>
              </a:defRPr>
            </a:pPr>
            <a:r>
              <a:rPr sz="3900" b="1">
                <a:solidFill>
                  <a:srgbClr val="FFD36C"/>
                </a:solidFill>
              </a:rPr>
              <a:t>三段 BGM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D6F79-6238-4F30-A667-88AF606C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76962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2C2"/>
                </a:solidFill>
              </a:defRPr>
            </a:pPr>
            <a:r>
              <a:rPr sz="2700" b="1">
                <a:solidFill>
                  <a:srgbClr val="FFF2C2"/>
                </a:solidFill>
              </a:rPr>
              <a:t>day.m4a：白天行动</a:t>
            </a:r>
          </a:p>
          <a:p xmlns:a="http://schemas.openxmlformats.org/drawingml/2006/main">
            <a:pPr>
              <a:defRPr sz="2700" b="1">
                <a:solidFill>
                  <a:srgbClr val="FFF2C2"/>
                </a:solidFill>
              </a:defRPr>
            </a:pPr>
            <a:r>
              <a:rPr sz="2700" b="1">
                <a:solidFill>
                  <a:srgbClr val="FFF2C2"/>
                </a:solidFill>
              </a:rPr>
              <a:t>night.m4a：夜晚压力</a:t>
            </a:r>
          </a:p>
          <a:p xmlns:a="http://schemas.openxmlformats.org/drawingml/2006/main">
            <a:pPr>
              <a:defRPr sz="2700" b="1">
                <a:solidFill>
                  <a:srgbClr val="FFF2C2"/>
                </a:solidFill>
              </a:defRPr>
            </a:pPr>
            <a:r>
              <a:rPr sz="2700" b="1">
                <a:solidFill>
                  <a:srgbClr val="FFF2C2"/>
                </a:solidFill>
              </a:rPr>
              <a:t>ending.m4a：结局回声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8DE9A-A1AB-4753-86E3-9BC947E5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29450"/>
            <a:ext cx="7696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E8BE">
                    <a:alpha val="88000"/>
                  </a:srgbClr>
                </a:solidFill>
              </a:defRPr>
            </a:pPr>
            <a:r>
              <a:rPr sz="2025" b="0">
                <a:solidFill>
                  <a:srgbClr val="FFE8BE">
                    <a:alpha val="88000"/>
                  </a:srgbClr>
                </a:solidFill>
              </a:rPr>
              <a:t>音乐随场景自动切换，开始页保持静默，避免在玩家未交互前打破浏览器播放规则。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595DA-51B7-4386-99A6-ACE430AE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10200"/>
            <a:ext cx="3429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9FD56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DBA4A-A190-4A8E-AA1E-AEBE4D17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57800"/>
            <a:ext cx="342900" cy="4095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8AA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33C61-C947-4A47-BE81-BD27599B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105400"/>
            <a:ext cx="342900" cy="571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36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A188B-528A-49A8-9152-4138BAC7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914900"/>
            <a:ext cx="342900" cy="7334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FD56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10177-2E6C-4F74-9CB9-4C3030C5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95900"/>
            <a:ext cx="342900" cy="371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8AA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D7BE4-2C9D-40C8-B3E8-2D4C8EB2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143500"/>
            <a:ext cx="342900" cy="5334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36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73F68-C9C2-4DD7-958C-2E9C2BA0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953000"/>
            <a:ext cx="342900" cy="6953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FD56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AEA10-5B36-44D5-97FD-88DBC7AE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334000"/>
            <a:ext cx="342900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8AA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B9855-81B1-43CA-BF36-A12B2A68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5181600"/>
            <a:ext cx="342900" cy="4953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36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2EE77-B0A0-4CE5-9663-468CDF8F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991100"/>
            <a:ext cx="342900" cy="6572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FD56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B20A7-F300-4A9A-8B22-6CF82183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372100"/>
            <a:ext cx="3429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8AA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59D8A-A818-4DD9-BA5D-AA765C89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219700"/>
            <a:ext cx="342900" cy="457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36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0A8A5-2FA5-4FD3-8A25-17C815D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5029200"/>
            <a:ext cx="342900" cy="6191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FD56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C13BA-ABAE-45A2-BE4C-F38F2191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5410200"/>
            <a:ext cx="342900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8AA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D9B2C-EEE2-46AF-BE1B-140CCF5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5257800"/>
            <a:ext cx="342900" cy="4191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36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64605-1A59-4589-B869-974ABD5E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067300"/>
            <a:ext cx="342900" cy="5810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FD56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8EC31-9073-41A3-836A-B37055AA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4914900"/>
            <a:ext cx="342900" cy="742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8AA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0BE23-22D8-49BE-9E9C-9C534D7A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5295900"/>
            <a:ext cx="342900" cy="381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36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4315F-0320-4718-B44C-AE82975E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43600"/>
            <a:ext cx="7696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F8AA8"/>
                </a:solidFill>
              </a:defRPr>
            </a:pPr>
            <a:r>
              <a:rPr sz="3300" b="1">
                <a:solidFill>
                  <a:srgbClr val="EF8AA8"/>
                </a:solidFill>
              </a:rPr>
              <a:t>交互节奏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47B08-237C-4027-874F-494CEF39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696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2C2"/>
                </a:solidFill>
              </a:defRPr>
            </a:pPr>
            <a:r>
              <a:rPr sz="2325" b="0">
                <a:solidFill>
                  <a:srgbClr val="FFF2C2"/>
                </a:solidFill>
              </a:rPr>
              <a:t>白天：点击正确步骤，得到反馈。</a:t>
            </a:r>
          </a:p>
          <a:p xmlns:a="http://schemas.openxmlformats.org/drawingml/2006/main">
            <a:pPr>
              <a:defRPr sz="2325" b="0">
                <a:solidFill>
                  <a:srgbClr val="FFF2C2"/>
                </a:solidFill>
              </a:defRPr>
            </a:pPr>
            <a:r>
              <a:rPr sz="2325" b="0">
                <a:solidFill>
                  <a:srgbClr val="FFF2C2"/>
                </a:solidFill>
              </a:rPr>
              <a:t>夜晚：每个按钮都是一种表达策略，也是一种损耗方式。</a:t>
            </a:r>
          </a:p>
        </p:txBody>
      </p:sp>
    </p:spTree>
    <p:extLst>
      <p:ext uri="{BB962C8B-B14F-4D97-AF65-F5344CB8AC3E}">
        <p14:creationId xmlns:p14="http://schemas.microsoft.com/office/powerpoint/2010/main" val="8518451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-ending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0588ee9d9401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g-scrim">
            <a:extLst xmlns:a="http://schemas.openxmlformats.org/drawingml/2006/main">
              <a:ext uri="{FF2B5EF4-FFF2-40B4-BE49-F238E27FC236}">
                <a16:creationId xmlns:a16="http://schemas.microsoft.com/office/drawing/2014/main" id="{011C2865-520A-4A90-AD11-0BE681D8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0D14">
              <a:alpha val="64000"/>
            </a:srgbClr>
          </a:solidFill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BA03DB7-BFDF-4D02-A808-4EA71E3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72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08 / MEANING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9E190A-7CDB-4D9D-B57A-21B76214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33500"/>
            <a:ext cx="161544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作品价值：把“说清楚”从道德要求变成可被质疑的机制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D4E8C-9149-4C8E-83E7-01CE3583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meaning-claim">
            <a:extLst xmlns:a="http://schemas.openxmlformats.org/drawingml/2006/main">
              <a:ext uri="{FF2B5EF4-FFF2-40B4-BE49-F238E27FC236}">
                <a16:creationId xmlns:a16="http://schemas.microsoft.com/office/drawing/2014/main" id="{BAED264A-6931-4E6E-B680-9BBCA622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12954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3BD"/>
                </a:solidFill>
              </a:defRPr>
            </a:pPr>
            <a:r>
              <a:rPr sz="3600" b="1">
                <a:solidFill>
                  <a:srgbClr val="FFF3BD"/>
                </a:solidFill>
              </a:rPr>
              <a:t>玩家最终带走的不是一套沟通技巧，而是一个更尖锐的问题：</a:t>
            </a:r>
          </a:p>
          <a:p xmlns:a="http://schemas.openxmlformats.org/drawingml/2006/main">
            <a:pPr>
              <a:defRPr sz="3600" b="1">
                <a:solidFill>
                  <a:srgbClr val="FFF3BD"/>
                </a:solidFill>
              </a:defRPr>
            </a:pPr>
            <a:r>
              <a:rPr sz="3600" b="1">
                <a:solidFill>
                  <a:srgbClr val="FFF3BD"/>
                </a:solidFill>
              </a:rPr>
              <a:t>当关系把每次解释都改写成新误解时，我是否还必须继续解释？</a:t>
            </a:r>
          </a:p>
        </p:txBody>
      </p:sp>
      <p:sp>
        <p:nvSpPr>
          <p:cNvPr id="7" name="chip-适合课堂讨论">
            <a:extLst xmlns:a="http://schemas.openxmlformats.org/drawingml/2006/main">
              <a:ext uri="{FF2B5EF4-FFF2-40B4-BE49-F238E27FC236}">
                <a16:creationId xmlns:a16="http://schemas.microsoft.com/office/drawing/2014/main" id="{EA19C235-373F-482A-88D3-87E2951E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22080"/>
            <a:ext cx="1428750" cy="407670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9FD5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00705-B630-40B8-B97F-5EB660EE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12495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FD56F"/>
                </a:solidFill>
              </a:defRPr>
            </a:pPr>
            <a:r>
              <a:rPr sz="1425" b="1">
                <a:solidFill>
                  <a:srgbClr val="9FD56F"/>
                </a:solidFill>
              </a:rPr>
              <a:t>适合课堂讨论</a:t>
            </a:r>
          </a:p>
        </p:txBody>
      </p:sp>
      <p:sp>
        <p:nvSpPr>
          <p:cNvPr id="9" name="chip-适合互动展陈">
            <a:extLst xmlns:a="http://schemas.openxmlformats.org/drawingml/2006/main">
              <a:ext uri="{FF2B5EF4-FFF2-40B4-BE49-F238E27FC236}">
                <a16:creationId xmlns:a16="http://schemas.microsoft.com/office/drawing/2014/main" id="{ABA638BE-31B0-4D5A-BC38-F658C01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9022080"/>
            <a:ext cx="1428750" cy="407670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FFD3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1AC8D-9308-4A6D-AA66-AE396E63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912495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D36C"/>
                </a:solidFill>
              </a:defRPr>
            </a:pPr>
            <a:r>
              <a:rPr sz="1425" b="1">
                <a:solidFill>
                  <a:srgbClr val="FFD36C"/>
                </a:solidFill>
              </a:rPr>
              <a:t>适合互动展陈</a:t>
            </a:r>
          </a:p>
        </p:txBody>
      </p:sp>
      <p:sp>
        <p:nvSpPr>
          <p:cNvPr id="11" name="chip-适合继续扩写章节">
            <a:extLst xmlns:a="http://schemas.openxmlformats.org/drawingml/2006/main">
              <a:ext uri="{FF2B5EF4-FFF2-40B4-BE49-F238E27FC236}">
                <a16:creationId xmlns:a16="http://schemas.microsoft.com/office/drawing/2014/main" id="{A0A03993-D853-491E-9231-6B8F4D3C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022080"/>
            <a:ext cx="1790700" cy="407670"/>
          </a:xfrm>
          <a:prstGeom xmlns:a="http://schemas.openxmlformats.org/drawingml/2006/main" prst="roundRect">
            <a:avLst>
              <a:gd name="adj" fmla="val 14019"/>
            </a:avLst>
          </a:prstGeom>
          <a:solidFill xmlns:a="http://schemas.openxmlformats.org/drawingml/2006/main">
            <a:srgbClr val="301C12">
              <a:alpha val="76000"/>
            </a:srgbClr>
          </a:solidFill>
          <a:ln xmlns:a="http://schemas.openxmlformats.org/drawingml/2006/main" w="19050">
            <a:solidFill>
              <a:srgbClr val="EF8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0B8A7-F9E0-43D7-BAA2-561B8B9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912495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F8AA8"/>
                </a:solidFill>
              </a:defRPr>
            </a:pPr>
            <a:r>
              <a:rPr sz="1425" b="1">
                <a:solidFill>
                  <a:srgbClr val="EF8AA8"/>
                </a:solidFill>
              </a:rPr>
              <a:t>适合继续扩写章节</a:t>
            </a:r>
          </a:p>
        </p:txBody>
      </p:sp>
    </p:spTree>
    <p:extLst>
      <p:ext uri="{BB962C8B-B14F-4D97-AF65-F5344CB8AC3E}">
        <p14:creationId xmlns:p14="http://schemas.microsoft.com/office/powerpoint/2010/main" val="17045516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-day2-documen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2ae0795b942a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bg-scrim">
            <a:extLst xmlns:a="http://schemas.openxmlformats.org/drawingml/2006/main">
              <a:ext uri="{FF2B5EF4-FFF2-40B4-BE49-F238E27FC236}">
                <a16:creationId xmlns:a16="http://schemas.microsoft.com/office/drawing/2014/main" id="{15AA2609-1994-46CB-81D2-CFC8F6B7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0E0F">
              <a:alpha val="74000"/>
            </a:srgbClr>
          </a:solidFill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D813211-B438-4A77-912C-DDF524E7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09 / NEXT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AB4A02-31AC-4FF6-BB12-1D8E454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76350"/>
            <a:ext cx="16154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后续方向：从短篇原型扩展为可复玩的叙事系统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EFB4A-1DDE-47EA-A794-C2880E9C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62941-A745-4860-ACEE-596A96D5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5124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D36C"/>
                </a:solidFill>
              </a:defRPr>
            </a:pPr>
            <a:r>
              <a:rPr sz="3150" b="1">
                <a:solidFill>
                  <a:srgbClr val="FFD36C"/>
                </a:solidFill>
              </a:rPr>
              <a:t>内容扩展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2F298-D2BD-48FF-B724-7666B4E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5124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2C2"/>
                </a:solidFill>
              </a:defRPr>
            </a:pPr>
            <a:r>
              <a:rPr sz="2250" b="0">
                <a:solidFill>
                  <a:srgbClr val="FFF2C2"/>
                </a:solidFill>
              </a:rPr>
              <a:t>增加更多天数、更多关系类型，让误解模式形成可比较的谱系。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9ED6F-C48D-4DD4-A1D8-7F5E0213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0100"/>
            <a:ext cx="5124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FD56F"/>
                </a:solidFill>
              </a:defRPr>
            </a:pPr>
            <a:r>
              <a:rPr sz="3150" b="1">
                <a:solidFill>
                  <a:srgbClr val="9FD56F"/>
                </a:solidFill>
              </a:rPr>
              <a:t>系统扩展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B6CD1-90D1-4FCF-B04F-1CD21AD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95900"/>
            <a:ext cx="5124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2C2"/>
                </a:solidFill>
              </a:defRPr>
            </a:pPr>
            <a:r>
              <a:rPr sz="2250" b="0">
                <a:solidFill>
                  <a:srgbClr val="FFF2C2"/>
                </a:solidFill>
              </a:rPr>
              <a:t>加入存档、章节选择、音量控制，让玩家回看不同选择的代价。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8464C-CD4E-476F-9A6E-B9A86808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10100"/>
            <a:ext cx="5124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F8AA8"/>
                </a:solidFill>
              </a:defRPr>
            </a:pPr>
            <a:r>
              <a:rPr sz="3150" b="1">
                <a:solidFill>
                  <a:srgbClr val="EF8AA8"/>
                </a:solidFill>
              </a:rPr>
              <a:t>表现扩展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F09F5-B0CF-4275-8507-CB086BFD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295900"/>
            <a:ext cx="5124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2C2"/>
                </a:solidFill>
              </a:defRPr>
            </a:pPr>
            <a:r>
              <a:rPr sz="2250" b="0">
                <a:solidFill>
                  <a:srgbClr val="FFF2C2"/>
                </a:solidFill>
              </a:rPr>
              <a:t>为结局增加专属画面、音效和更明确的情绪转场。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C038CA8-016D-4076-8B19-648163E4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8582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C">
              <a:alpha val="68000"/>
            </a:srgbClr>
          </a:solidFill>
          <a:ln xmlns:a="http://schemas.openxmlformats.org/drawingml/2006/main" w="0">
            <a:solidFill>
              <a:srgbClr val="FFD36C">
                <a:alpha val="68000"/>
              </a:srgbClr>
            </a:solidFill>
            <a:prstDash val="solid"/>
          </a:ln>
        </p:spPr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6FFC8F5-5F0A-4731-80C6-20864EFE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763000"/>
            <a:ext cx="630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E2A5">
                    <a:alpha val="78000"/>
                  </a:srgbClr>
                </a:solidFill>
              </a:defRPr>
            </a:pPr>
            <a:r>
              <a:rPr sz="1425" b="0">
                <a:solidFill>
                  <a:srgbClr val="FFE2A5">
                    <a:alpha val="78000"/>
                  </a:srgbClr>
                </a:solidFill>
              </a:rPr>
              <a:t>汇报重点：主题明确，形式轻量，视听风格和机制共同服务“无法收敛”的体验。</a:t>
            </a:r>
          </a:p>
        </p:txBody>
      </p:sp>
    </p:spTree>
    <p:extLst>
      <p:ext uri="{BB962C8B-B14F-4D97-AF65-F5344CB8AC3E}">
        <p14:creationId xmlns:p14="http://schemas.microsoft.com/office/powerpoint/2010/main" val="734563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2026-05-19T10:31:33.0840000Z</dcterms:created>
  <dcterms:modified xsi:type="dcterms:W3CDTF">2026-05-19T10:31:33.0840000Z</dcterms:modified>
</coreProperties>
</file>